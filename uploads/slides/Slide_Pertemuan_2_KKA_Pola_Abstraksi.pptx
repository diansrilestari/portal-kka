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818CF8"/>
                </a:solidFill>
              </a:defRPr>
            </a:pPr>
            <a:r>
              <a:t>SMAN 7 PONTIANAK • KURIKULUM PEMBELAJARAN MENDALAM (DEEP LEARNING)</a:t>
            </a:r>
          </a:p>
          <a:p>
            <a:pPr>
              <a:spcAft>
                <a:spcPts val="1600"/>
              </a:spcAft>
              <a:defRPr sz="3200" b="1">
                <a:solidFill>
                  <a:srgbClr val="FFFFFF"/>
                </a:solidFill>
              </a:defRPr>
            </a:pPr>
            <a:r>
              <a:t>Pertemuan 2:</a:t>
            </a:r>
            <a:br/>
            <a:r>
              <a:t>Menemukan Pola &amp; Abstraksi Data</a:t>
            </a:r>
          </a:p>
          <a:p>
            <a:pPr>
              <a:spcAft>
                <a:spcPts val="2800"/>
              </a:spcAft>
              <a:defRPr sz="1400" i="1">
                <a:solidFill>
                  <a:srgbClr val="CBD5E1"/>
                </a:solidFill>
              </a:defRPr>
            </a:pPr>
            <a:r>
              <a:t>🎯 Fokus Capaian (TP 2):</a:t>
            </a:r>
            <a:br/>
            <a:r>
              <a:t>"Menemukan pola dan menyederhanakan masalah melalui abstraksi untuk menentukan data penting serta alternatif solusi."</a:t>
            </a:r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Pilar: Pengenalan Pola &amp; Abstraksi  |  Model: Problem Based Learning (PBL)  |  Fase E / Kelas 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KODING &amp; KECERDASAN ARTIFISIAL • FASE E (KELAS 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🎯 Tujuan Pembelajaran (TP 2) &amp; Kriteria Ketercapaian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Fokus Capaian (TP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1E293B"/>
                </a:solidFill>
              </a:defRPr>
            </a:pPr>
            <a:r>
              <a:t>Peserta didik mampu: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• Membaca dan menafsirkan data observasi empiris untuk menemukan tren berulang (Pengenalan Pola).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• Menyaring informasi penting yang memengaruhi solusi dan membuang detail yang tidak relevan (Abstraksi).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• Menggunakan pertanyaan kunci: 'Jika informasi ini dihapus, apakah solusi kita berubah?'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• Merumuskan minimal 2 alternatif solusi terukur berbasis pola waktu kritis.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Bukti Ketercapaian Pembelajaran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4F46E5"/>
                </a:solidFill>
              </a:defRPr>
            </a:pPr>
            <a:r>
              <a:t>1. Analisis Pola Waktu Kritis</a:t>
            </a:r>
          </a:p>
          <a:p>
            <a:pPr>
              <a:spcAft>
                <a:spcPts val="1400"/>
              </a:spcAft>
              <a:defRPr sz="1100">
                <a:solidFill>
                  <a:srgbClr val="64748B"/>
                </a:solidFill>
              </a:defRPr>
            </a:pPr>
            <a:r>
              <a:t>Menemukan bahwa antrean tidak padat sepanjang 20 menit, melainkan memiliki puncak lonjakan (peak hours) di 5 menit pertama.</a:t>
            </a:r>
          </a:p>
          <a:p>
            <a:pPr>
              <a:defRPr b="1" sz="1300">
                <a:solidFill>
                  <a:srgbClr val="4F46E5"/>
                </a:solidFill>
              </a:defRPr>
            </a:pPr>
            <a:r>
              <a:t>2. Matriks Abstraksi (LKPD 2)</a:t>
            </a:r>
          </a:p>
          <a:p>
            <a:pPr>
              <a:spcAft>
                <a:spcPts val="1400"/>
              </a:spcAft>
              <a:defRPr sz="1100">
                <a:solidFill>
                  <a:srgbClr val="64748B"/>
                </a:solidFill>
              </a:defRPr>
            </a:pPr>
            <a:r>
              <a:t>Mampu memilah minimal 5 data relevan vs 5 data non-relevan dengan argumentasi logis.</a:t>
            </a:r>
          </a:p>
          <a:p>
            <a:pPr>
              <a:defRPr b="1" sz="1300">
                <a:solidFill>
                  <a:srgbClr val="4F46E5"/>
                </a:solidFill>
              </a:defRPr>
            </a:pPr>
            <a:r>
              <a:t>3. Alternatif Solusi Terfokus</a:t>
            </a:r>
          </a:p>
          <a:p>
            <a:pPr>
              <a:spcAft>
                <a:spcPts val="1400"/>
              </a:spcAft>
              <a:defRPr sz="1100">
                <a:solidFill>
                  <a:srgbClr val="64748B"/>
                </a:solidFill>
              </a:defRPr>
            </a:pPr>
            <a:r>
              <a:t>Merancang solusi yang spesifik membidik penyelesaian 5 menit krusial, bukan solusi umum yang menghabiskan anggaran besar.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KODING &amp; KECERDASAN ARTIFISIAL • FASE E (KELAS 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📖 Studi Kasus: Rani &amp; Dimas Menganalisis Data Antrean (Bagian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29260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Konteks Nyata &amp; Etika Privasi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49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12E81"/>
                </a:solidFill>
              </a:defRPr>
            </a:pPr>
            <a:r>
              <a:t>"Selama 3 hari, Rani dan Dimas mencatat kedatangan murid tiap 5 menit tanpa mencatat identitas pribadi siapa pun demi privasi.</a:t>
            </a:r>
            <a:br/>
            <a:br/>
            <a:r>
              <a:t>Mereka menemukan pola mengejutkan: antrean selalu melonjak drastis hanya di 5 menit pertama, lalu berangsur turun. Maka fokus solusi adalah menangani 5 menit krusial tersebut!"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5120640" cy="16459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🔒 Prinsip Etika &amp; Privasi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Rani &amp; Dimas tidak mencatat nama atau foto siswa. Mereka hanya mencatat jumlah orang (data agregat). Inilah standar integritas dalam data science &amp; 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663440"/>
            <a:ext cx="5212080" cy="164592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800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🎯 Temuan Pola yang Mengubah Rencana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1206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Sebelum melihat data, orang mengira antrean macet selama 20 menit penuh. Data membuktikan: bottleneck hanya terjadi di menit 0-5. Solusi cukup membidik 5 menit itu!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KODING &amp; KECERDASAN ARTIFISIAL • FASE E (KELAS 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🔍 Pilar 2 Berpikir Komputasional: Pengenalan Pola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6459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DEFINISI OPERASIONAL PENGENALAN POLA:</a:t>
            </a:r>
          </a:p>
          <a:p>
            <a:pPr>
              <a:defRPr sz="1400" b="1">
                <a:solidFill>
                  <a:srgbClr val="1E293B"/>
                </a:solidFill>
              </a:defRPr>
            </a:pPr>
            <a:r>
              <a:t>"Kemampuan melihat kesamaan, keteraturan, atau tren berulang pada data atau situasi. Menemukan pola membantu kita menduga penyebab utama masalah dan memprediksi apa yang akan terjadi selanjutnya."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338328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1. Mengungkap Akar Masalah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Tanpa data pola, kita hanya menebak-nebak. Pola memberikan bukti konkret (evidence-based) dari mana masalah berakar.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383280"/>
            <a:ext cx="338328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520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2. Efisiensi Biaya &amp; Tenaga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93192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Kita tidak perlu merekrut 5 penjual baru untuk 20 menit jika ternyata lonjakan hanya berlangsung 5 menit awal.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383280"/>
            <a:ext cx="338328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520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3. Dasar Algoritma &amp;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93192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Kecerdasan Artifisial (AI) bekerja dengan mengenali pola data masa lalu untuk membuat keputusan pintar di masa depan.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KODING &amp; KECERDASAN ARTIFISIAL • FASE E (KELAS 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📊 Tabel Data Observasi Antrean: Menemukan 'Peak Hours'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926080"/>
                <a:gridCol w="3200400"/>
              </a:tblGrid>
              <a:tr h="768096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Menit ke- (Waktu Istirahat)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Jumlah Siswa Mengantre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Status Beban Antrean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Analisis Pola &amp; Tindak Lanjut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0 – 5 Menit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40 Siswa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🔴 Puncak Lonjakan (Peak Hours)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Kritis! Semua siswa tiba serentak saat bel istirahat berbunyi.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5 – 10 Menit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25 Siswa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🟡 Mulai Terurai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Antrean masih panjang tapi aliran kasir mulai bergerak stabil.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10 – 15 Menit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 Siswa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🟢 Layanan Normal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Kondisi sangat kondusif, siswa terlayani dalam &lt; 1 menit.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15 – 20 Menit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 Siswa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⚪ Sepi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Kantin lengang, siswa sudah kembali ke kelas masing-masing.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F46E5"/>
                </a:solidFill>
              </a:defRPr>
            </a:pPr>
            <a:r>
              <a:t>💡 INSIGHT UTAMA: Masalah antrean kantin bukanlah 'kurang penjual', melainkan 'penumpukan gelombang awal di 5 menit pertama'. Solusi yang cerdas harus difokuskan untuk meratakan gelombang 0-5 menit ini!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KODING &amp; KECERDASAN ARTIFISIAL • FASE E (KELAS 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🤖 Bagaimana Pola Dimanfaatkan oleh Algoritma &amp; AI?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📱 Rekomendasi Media Sosial (TikTok / YouTube)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Melihat pola: Kamu sering menonton video koding selama &gt; 30 detik pada malam hari.</a:t>
            </a:r>
            <a:br/>
            <a:r>
              <a:t>Pola ini digunakan algoritma untuk menyajikan video serupa di berandamu.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🚗 Navigasi Cerdas (Google Maps / Waze)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Melihat pola: Tiap hari Senin jam 06.45 WIB, jalanan depan sekolah padat merayap.</a:t>
            </a:r>
            <a:br/>
            <a:r>
              <a:t>Pola historis digunakan untuk mengarahkan pengguna ke rute alternatif lebih awal.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📧 Filter Anti-Spam 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Melihat pola: Email dengan kata 'Hadiah 100 Juta', 'Klaim Sekarang', dan link mencurigakan.</a:t>
            </a:r>
            <a:br/>
            <a:r>
              <a:t>Sistem otomatis menandai dan memindahkan email tersebut ke folder Spam.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KODING &amp; KECERDASAN ARTIFISIAL • FASE E (KELAS 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🎯 Pilar 3 Berpikir Komputasional: Apa itu Abstraksi?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6459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DEFINISI OPERASIONAL ABSTRAKSI:</a:t>
            </a:r>
          </a:p>
          <a:p>
            <a:pPr>
              <a:defRPr sz="1400" b="1">
                <a:solidFill>
                  <a:srgbClr val="1E293B"/>
                </a:solidFill>
              </a:defRPr>
            </a:pPr>
            <a:r>
              <a:t>"Kemampuan menyaring informasi: mempertahankan faktor yang benar-benar memengaruhi solusi, dan mengabaikan (membuang) detail yang tidak relevan agar fokus kita tidak terpecah."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98480" cy="292608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🔑 PERTANYAAN KUNCI ABSTRAKSI (THE GOLDEN QUESTION):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31920"/>
            <a:ext cx="10149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 i="1">
                <a:solidFill>
                  <a:srgbClr val="B45309"/>
                </a:solidFill>
              </a:defRPr>
            </a:pPr>
            <a:r>
              <a:t>"Jika informasi ini dihapus, apakah keputusan atau solusi kita berubah?"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Jika JAWABANNYA YA -&gt; Informasi itu PENTING (Harus Dipertahankan).</a:t>
            </a:r>
            <a:br/>
            <a:r>
              <a:t>• Jika JAWABANNYA TIDAK -&gt; Informasi itu DETAIL SAMPINGAN (Bisa Diabaikan/Dibuang).</a:t>
            </a:r>
            <a:br/>
            <a:br/>
            <a:r>
              <a:t>Contoh: Peta Google Maps menghilangkan bentuk pohon dan warna genteng rumah warga, karena untuk mencari jalan, kamu hanya butuh rute jalan dan nama belokan!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KODING &amp; KECERDASAN ARTIFISIAL • FASE E (KELAS 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⚖️ Latihan Abstraksi: Memilah Data di Antrean Kantin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✅ DATA RELEVAN (Dipertahankan)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65F46"/>
                </a:solidFill>
              </a:defRPr>
            </a:pPr>
            <a:r>
              <a:t>• Waktu Kedatangan Siswa: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Memengaruhi waktu kapan antrean memuncak (0-5 menit).</a:t>
            </a:r>
          </a:p>
          <a:p>
            <a:pPr>
              <a:defRPr b="1" sz="1100">
                <a:solidFill>
                  <a:srgbClr val="065F46"/>
                </a:solidFill>
              </a:defRPr>
            </a:pPr>
            <a:r>
              <a:t>• Metode Pembayaran (Tunai/QRIS):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Memengaruhi kecepatan transaksi kasir per siswa.</a:t>
            </a:r>
          </a:p>
          <a:p>
            <a:pPr>
              <a:defRPr b="1" sz="1100">
                <a:solidFill>
                  <a:srgbClr val="065F46"/>
                </a:solidFill>
              </a:defRPr>
            </a:pPr>
            <a:r>
              <a:t>• Ketersediaan Uang Kembalian: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Jika kasir kehabisan uang kecil, antrean langsung macet total.</a:t>
            </a:r>
          </a:p>
          <a:p>
            <a:pPr>
              <a:defRPr b="1" sz="1100">
                <a:solidFill>
                  <a:srgbClr val="065F46"/>
                </a:solidFill>
              </a:defRPr>
            </a:pPr>
            <a:r>
              <a:t>• Jumlah Menu Paling Laris: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Menu favorit yang siap saji bisa disiapkan sebelum istirahat.</a:t>
            </a:r>
          </a:p>
          <a:p>
            <a:pPr>
              <a:defRPr b="1" sz="1100">
                <a:solidFill>
                  <a:srgbClr val="065F46"/>
                </a:solidFill>
              </a:defRPr>
            </a:pPr>
            <a:r>
              <a:t>• Lebar Jalur Masuk &amp; Keluar: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Menentukan apakah siswa bisa berjalan lancar 1 arah.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❌ DATA TIDAK RELEVAN (Diabaikan)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9F1239"/>
                </a:solidFill>
              </a:defRPr>
            </a:pPr>
            <a:r>
              <a:t>• Merek Sepatu / Tas Siswa: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Tidak memengaruhi cepat atau lambatnya pesanan makanan.</a:t>
            </a:r>
          </a:p>
          <a:p>
            <a:pPr>
              <a:defRPr b="1" sz="1100">
                <a:solidFill>
                  <a:srgbClr val="9F1239"/>
                </a:solidFill>
              </a:defRPr>
            </a:pPr>
            <a:r>
              <a:t>• Warna Celemek Penjual Kantin: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Sama sekali tidak mengubah durasi transaksi kasir.</a:t>
            </a:r>
          </a:p>
          <a:p>
            <a:pPr>
              <a:defRPr b="1" sz="1100">
                <a:solidFill>
                  <a:srgbClr val="9F1239"/>
                </a:solidFill>
              </a:defRPr>
            </a:pPr>
            <a:r>
              <a:t>• Siapa Siswa yang Sedang Mengobrol: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Tidak relevan bagi sistem pembayaran.</a:t>
            </a:r>
          </a:p>
          <a:p>
            <a:pPr>
              <a:defRPr b="1" sz="1100">
                <a:solidFill>
                  <a:srgbClr val="9F1239"/>
                </a:solidFill>
              </a:defRPr>
            </a:pPr>
            <a:r>
              <a:t>• Cuaca Kemarin Sore: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Yang kita butuhkan adalah data jam istirahat hari ini.</a:t>
            </a:r>
          </a:p>
          <a:p>
            <a:pPr>
              <a:defRPr b="1" sz="1100">
                <a:solidFill>
                  <a:srgbClr val="9F1239"/>
                </a:solidFill>
              </a:defRPr>
            </a:pPr>
            <a:r>
              <a:t>• Nama Lengkap Siswa Pemesan: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Cukup nomor antrean / nomor pesanan, identitas nama tidak perlu dicatat demi privasi.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KODING &amp; KECERDASAN ARTIFISIAL • FASE E (KELAS 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💡 Merumuskan Solusi Berbasis Pola '5 Menit Pertama'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Alternatif A: Jalur Cepat (Express Line)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Pola: 40 siswa serentak di 5 menit pertama.</a:t>
            </a:r>
            <a:br/>
            <a:br/>
            <a:r>
              <a:t>Solusi: Buka 1 meja khusus menu paket cepat saji dengan harga pas (misal: Rp 10.000 pas / non-tunai).</a:t>
            </a:r>
            <a:br/>
            <a:br/>
            <a:r>
              <a:t>Kelebihan: Transaksi hanya butuh 15 detik/siswa. Lonjakan langsung terserap cepat!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Alternatif B: Sistem Pre-Order Kelas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Pola: Siswa lama memilih menu saat tiba di kantin.</a:t>
            </a:r>
            <a:br/>
            <a:br/>
            <a:r>
              <a:t>Solusi: Perwakilan kelas memesan menu 30 menit sebelum bel istirahat melalui form sederhana.</a:t>
            </a:r>
            <a:br/>
            <a:br/>
            <a:r>
              <a:t>Kelebihan: Saat bel berbunyi, makanan sudah dikemas per kelas dan tinggal diambil tanpa antre.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Alternatif C: Kupon Prabayar di Koperasi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Pola: Menghitung kembalian uang tunai memakan waktu 1-2 menit per transaksi.</a:t>
            </a:r>
            <a:br/>
            <a:br/>
            <a:r>
              <a:t>Solusi: Siswa membeli buku kupon makan di awal minggu.</a:t>
            </a:r>
            <a:br/>
            <a:br/>
            <a:r>
              <a:t>Kelebihan: Tidak ada drama uang kembalian habis di meja kasir kantin.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KODING &amp; KECERDASAN ARTIFISIAL • FASE E (KELAS 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💻 Praktik Lab Simulasi: Peta Abstraksi Data Interaktif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Instruksi Kerja di Portal KKA: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1. Masuk ke https://portalkka.my.id dengan akun siswa.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2. Buka Modul Ajar -&gt; Pertemuan 2: Menemukan Pola &amp; Abstraksi Data.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3. Akses tab 'Lab Simulasi: Peta Abstraksi'.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4. Seret kartu data yang tersedia ke dalam 2 kotak: 'PENTING (Relevan)' atau 'DIABAIKAN'.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5. Tuliskan alasan abstraksi kelompok kalian pada form LKPD 2.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6. Tentukan 2 alternatif solusi paling realistis untuk mengatasi lonjakan 5 menit pertama!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463040"/>
            <a:ext cx="4846320" cy="47548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002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Kriteria Evaluasi Solusi Terpilih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10312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0D9488"/>
                </a:solidFill>
              </a:defRPr>
            </a:pPr>
            <a:r>
              <a:t>Uji Kelayakan Solusi (Feasibility):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Efektivitas: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Apakah benar-benar menurunkan antrean di menit 0-5?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Biaya (Cost):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Apakah solusi ini murah dan tidak membebani anggaran sekolah?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Kemudahan (Simplicity):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Apakah siswa dan penjual kantin mudah menerapkannya tanpa pelatihan rumit?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Etika &amp; Keadilan: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Apakah semua siswa mendapat akses yang setara dan adil?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KODING &amp; KECERDASAN ARTIFISIAL • FASE E (KELAS 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⚠️ Waspada: 3 Miskonsepsi Seputar Pola &amp; Abstraksi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❌ Miskonsepsi 1: Abstraksi = Menghapus Semua Informasi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SALAH: Menganggap abstraksi membuat data menjadi kosong dan hilang makna.</a:t>
            </a:r>
            <a:br/>
            <a:br/>
            <a:r>
              <a:t>BENAR: Abstraksi adalah 'penyaring fokus'. Kita hanya menyingkirkan detail yang mengaburkan pandangan, agar variabel penentu solusi terlihat terang benderang.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❌ Miskonsepsi 2: Menganggap 1 Kejadian Kebetulan Sebagai Pola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SALAH: Kemarin ada antrean panjang karena kasir sakit, lalu dianggap sebagai pola harian.</a:t>
            </a:r>
            <a:br/>
            <a:br/>
            <a:r>
              <a:t>BENAR: Pola harus didasarkan pada pengamatan berulang yang konsisten (seperti Rani &amp; Dimas yang mengamati selama 3 hari berturut-turut).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❌ Miskonsepsi 3: Merancang Solusi yang Tidak Menjawab Pola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SALAH: Tahu bahwa puncak macet di menit 0-5, tapi solusinya adalah 'memperpanjang jam buka kantin sampai sore'.</a:t>
            </a:r>
            <a:br/>
            <a:br/>
            <a:r>
              <a:t>BENAR: Solusi harus presisi menyelesaikan masalah pada waktu kritis yang ditunjukkan oleh pola data!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KODING &amp; KECERDASAN ARTIFISIAL • FASE E (KELAS 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🧘 Refleksi Metakognisi &amp; Tiket Keluar (Exit Ticket)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64008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3 Pertanyaan Refleksi Individu: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5852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D9488"/>
                </a:solidFill>
              </a:defRPr>
            </a:pPr>
            <a:r>
              <a:t>1. Pertanyaan Kunci Abstraksi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Bagaimana pertanyaan: 'Jika informasi ini dihapus, apakah solusi kita berubah?' membantumu menyaring hal-hal yang tidak penting hari ini?</a:t>
            </a:r>
          </a:p>
          <a:p>
            <a:pPr>
              <a:defRPr b="1" sz="1300">
                <a:solidFill>
                  <a:srgbClr val="0D9488"/>
                </a:solidFill>
              </a:defRPr>
            </a:pPr>
            <a:r>
              <a:t>2. Pola Pribadi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Coba renungkan: Pola kebiasaan apa (baik/buruk) yang paling sering berulang dalam caramu mengerjakan tugas sekolah?</a:t>
            </a:r>
          </a:p>
          <a:p>
            <a:pPr>
              <a:defRPr b="1" sz="1300">
                <a:solidFill>
                  <a:srgbClr val="0D9488"/>
                </a:solidFill>
              </a:defRPr>
            </a:pPr>
            <a:r>
              <a:t>3. Solusi Terpilih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Dari alternatif A (Jalur Cepat), B (Pre-Order), dan C (Kupon), mana yang menurutmu paling mudah diwujudkan di SMAN 7 Pontianak?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463040"/>
            <a:ext cx="3931920" cy="47548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59" y="16002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Sampai Jumpa di Pertemuan 3!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10312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4F46E5"/>
                </a:solidFill>
              </a:defRPr>
            </a:pPr>
            <a:r>
              <a:t>Topik Selanjutnya:</a:t>
            </a:r>
          </a:p>
          <a:p>
            <a:pPr>
              <a:spcAft>
                <a:spcPts val="1400"/>
              </a:spcAft>
              <a:defRPr b="1" sz="1300">
                <a:solidFill>
                  <a:srgbClr val="1E293B"/>
                </a:solidFill>
              </a:defRPr>
            </a:pPr>
            <a:r>
              <a:t>"Merancang Algoritma, Flowchart Standar ISO, &amp; Uji Telusur (Dry Run)"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Kumpulkan LKPD 2 dan isi tiket keluar sekarang melalui:</a:t>
            </a:r>
            <a:br/>
            <a:r>
              <a:t>👉 https://portalkka.my.id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