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9966960" cy="4389120"/>
          </a:xfrm>
          <a:prstGeom prst="rect">
            <a:avLst/>
          </a:prstGeom>
          <a:noFill/>
        </p:spPr>
        <p:txBody>
          <a:bodyPr wrap="square">
            <a:spAutoFit/>
          </a:bodyPr>
          <a:lstStyle/>
          <a:p>
            <a:pPr>
              <a:spcAft>
                <a:spcPts val="1400"/>
              </a:spcAft>
              <a:defRPr sz="1200" b="1">
                <a:solidFill>
                  <a:srgbClr val="818CF8"/>
                </a:solidFill>
              </a:defRPr>
            </a:pPr>
            <a:r>
              <a:t>SMAN 7 PONTIANAK • KURIKULUM PEMBELAJARAN MENDALAM (DEEP LEARNING)</a:t>
            </a:r>
          </a:p>
          <a:p>
            <a:pPr>
              <a:spcAft>
                <a:spcPts val="1600"/>
              </a:spcAft>
              <a:defRPr sz="3200" b="1">
                <a:solidFill>
                  <a:srgbClr val="FFFFFF"/>
                </a:solidFill>
              </a:defRPr>
            </a:pPr>
            <a:r>
              <a:t>Pertemuan 1:</a:t>
            </a:r>
            <a:br/>
            <a:r>
              <a:t>Memahami Masalah Kompleks &amp; Dekomposisi</a:t>
            </a:r>
          </a:p>
          <a:p>
            <a:pPr>
              <a:spcAft>
                <a:spcPts val="2800"/>
              </a:spcAft>
              <a:defRPr sz="1400" i="1">
                <a:solidFill>
                  <a:srgbClr val="CBD5E1"/>
                </a:solidFill>
              </a:defRPr>
            </a:pPr>
            <a:r>
              <a:t>🎯 Fokus Capaian (TP 1):</a:t>
            </a:r>
            <a:br/>
            <a:r>
              <a:t>"Mengidentifikasi permasalahan kompleks di lingkungan sehari-hari dan menguraikannya menjadi sub-masalah yang lebih sederhana."</a:t>
            </a:r>
          </a:p>
          <a:p>
            <a:pPr>
              <a:defRPr sz="1100" b="1">
                <a:solidFill>
                  <a:srgbClr val="94A3B8"/>
                </a:solidFill>
              </a:defRPr>
            </a:pPr>
            <a:r>
              <a:t>Elemen: Berpikir Komputasional (BK)  |  Model: Problem Based Learning (PBL)  |  Fase E / Kelas 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Tujuan Pembelajaran &amp; Kriteria Keberhasilan</a:t>
            </a:r>
          </a:p>
        </p:txBody>
      </p:sp>
      <p:sp>
        <p:nvSpPr>
          <p:cNvPr id="4" name="Rounded Rectangle 3"/>
          <p:cNvSpPr/>
          <p:nvPr/>
        </p:nvSpPr>
        <p:spPr>
          <a:xfrm>
            <a:off x="731520" y="146304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57200"/>
          </a:xfrm>
          <a:prstGeom prst="rect">
            <a:avLst/>
          </a:prstGeom>
          <a:noFill/>
        </p:spPr>
        <p:txBody>
          <a:bodyPr wrap="square">
            <a:spAutoFit/>
          </a:bodyPr>
          <a:lstStyle/>
          <a:p>
            <a:pPr>
              <a:defRPr sz="1400" b="1">
                <a:solidFill>
                  <a:srgbClr val="1E293B"/>
                </a:solidFill>
              </a:defRPr>
            </a:pPr>
            <a:r>
              <a:t>Fokus Capaian (TP 1)</a:t>
            </a:r>
          </a:p>
        </p:txBody>
      </p:sp>
      <p:sp>
        <p:nvSpPr>
          <p:cNvPr id="6" name="TextBox 5"/>
          <p:cNvSpPr txBox="1"/>
          <p:nvPr/>
        </p:nvSpPr>
        <p:spPr>
          <a:xfrm>
            <a:off x="914400" y="2103120"/>
            <a:ext cx="4754880" cy="3840480"/>
          </a:xfrm>
          <a:prstGeom prst="rect">
            <a:avLst/>
          </a:prstGeom>
          <a:noFill/>
        </p:spPr>
        <p:txBody>
          <a:bodyPr wrap="square">
            <a:spAutoFit/>
          </a:bodyPr>
          <a:lstStyle/>
          <a:p>
            <a:pPr>
              <a:spcAft>
                <a:spcPts val="1000"/>
              </a:spcAft>
              <a:defRPr b="1" sz="1300">
                <a:solidFill>
                  <a:srgbClr val="1E293B"/>
                </a:solidFill>
              </a:defRPr>
            </a:pPr>
            <a:r>
              <a:t>Peserta didik mampu:</a:t>
            </a:r>
          </a:p>
          <a:p>
            <a:pPr>
              <a:spcAft>
                <a:spcPts val="800"/>
              </a:spcAft>
              <a:defRPr sz="1200">
                <a:solidFill>
                  <a:srgbClr val="64748B"/>
                </a:solidFill>
              </a:defRPr>
            </a:pPr>
            <a:r>
              <a:t>• Menyadari pentingnya berpikir terstruktur dalam menghadapi tantangan dunia nyata.</a:t>
            </a:r>
          </a:p>
          <a:p>
            <a:pPr>
              <a:spcAft>
                <a:spcPts val="800"/>
              </a:spcAft>
              <a:defRPr sz="1200">
                <a:solidFill>
                  <a:srgbClr val="64748B"/>
                </a:solidFill>
              </a:defRPr>
            </a:pPr>
            <a:r>
              <a:t>• Mengidentifikasi ciri-ciri masalah kompleks di lingkungan sekolah/keseharian.</a:t>
            </a:r>
          </a:p>
          <a:p>
            <a:pPr>
              <a:spcAft>
                <a:spcPts val="800"/>
              </a:spcAft>
              <a:defRPr sz="1200">
                <a:solidFill>
                  <a:srgbClr val="64748B"/>
                </a:solidFill>
              </a:defRPr>
            </a:pPr>
            <a:r>
              <a:t>• Menerapkan teknik 5W+1H untuk membedah batas dan ruang lingkup persoalan.</a:t>
            </a:r>
          </a:p>
          <a:p>
            <a:pPr>
              <a:spcAft>
                <a:spcPts val="800"/>
              </a:spcAft>
              <a:defRPr sz="1200">
                <a:solidFill>
                  <a:srgbClr val="64748B"/>
                </a:solidFill>
              </a:defRPr>
            </a:pPr>
            <a:r>
              <a:t>• Menyusun Pohon Dekomposisi (Decomposition Tree) minimal 3 tingkat secara kolaboratif.</a:t>
            </a:r>
          </a:p>
        </p:txBody>
      </p:sp>
      <p:sp>
        <p:nvSpPr>
          <p:cNvPr id="7" name="Rounded Rectangle 6"/>
          <p:cNvSpPr/>
          <p:nvPr/>
        </p:nvSpPr>
        <p:spPr>
          <a:xfrm>
            <a:off x="6217920" y="146304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57200"/>
          </a:xfrm>
          <a:prstGeom prst="rect">
            <a:avLst/>
          </a:prstGeom>
          <a:noFill/>
        </p:spPr>
        <p:txBody>
          <a:bodyPr wrap="square">
            <a:spAutoFit/>
          </a:bodyPr>
          <a:lstStyle/>
          <a:p>
            <a:pPr>
              <a:defRPr sz="1400" b="1">
                <a:solidFill>
                  <a:srgbClr val="1E293B"/>
                </a:solidFill>
              </a:defRPr>
            </a:pPr>
            <a:r>
              <a:t>Bukti Ketercapaian Pembelajaran</a:t>
            </a:r>
          </a:p>
        </p:txBody>
      </p:sp>
      <p:sp>
        <p:nvSpPr>
          <p:cNvPr id="9" name="TextBox 8"/>
          <p:cNvSpPr txBox="1"/>
          <p:nvPr/>
        </p:nvSpPr>
        <p:spPr>
          <a:xfrm>
            <a:off x="6400800" y="2103120"/>
            <a:ext cx="4846320" cy="3840480"/>
          </a:xfrm>
          <a:prstGeom prst="rect">
            <a:avLst/>
          </a:prstGeom>
          <a:noFill/>
        </p:spPr>
        <p:txBody>
          <a:bodyPr wrap="square">
            <a:spAutoFit/>
          </a:bodyPr>
          <a:lstStyle/>
          <a:p>
            <a:pPr>
              <a:defRPr b="1" sz="1300">
                <a:solidFill>
                  <a:srgbClr val="4F46E5"/>
                </a:solidFill>
              </a:defRPr>
            </a:pPr>
            <a:r>
              <a:t>1. Analisis Perbedaan (Kognitif)</a:t>
            </a:r>
          </a:p>
          <a:p>
            <a:pPr>
              <a:spcAft>
                <a:spcPts val="1400"/>
              </a:spcAft>
              <a:defRPr sz="1100">
                <a:solidFill>
                  <a:srgbClr val="64748B"/>
                </a:solidFill>
              </a:defRPr>
            </a:pPr>
            <a:r>
              <a:t>Dapat membedakan masalah sederhana (cukup 1-2 langkah langsung) dan masalah kompleks (multi-variabel).</a:t>
            </a:r>
          </a:p>
          <a:p>
            <a:pPr>
              <a:defRPr b="1" sz="1300">
                <a:solidFill>
                  <a:srgbClr val="4F46E5"/>
                </a:solidFill>
              </a:defRPr>
            </a:pPr>
            <a:r>
              <a:t>2. Pemodelan Visual (Keterampilan)</a:t>
            </a:r>
          </a:p>
          <a:p>
            <a:pPr>
              <a:spcAft>
                <a:spcPts val="1400"/>
              </a:spcAft>
              <a:defRPr sz="1100">
                <a:solidFill>
                  <a:srgbClr val="64748B"/>
                </a:solidFill>
              </a:defRPr>
            </a:pPr>
            <a:r>
              <a:t>Mampu memetakan Masalah Utama -&gt; Sub-masalah -&gt; Aksi Terkecil pada LKPD 1 dan Simulator Dekomposisi.</a:t>
            </a:r>
          </a:p>
          <a:p>
            <a:pPr>
              <a:defRPr b="1" sz="1300">
                <a:solidFill>
                  <a:srgbClr val="4F46E5"/>
                </a:solidFill>
              </a:defRPr>
            </a:pPr>
            <a:r>
              <a:t>3. Kolaborasi Aktif (Sikap &amp; Karakter)</a:t>
            </a:r>
          </a:p>
          <a:p>
            <a:pPr>
              <a:spcAft>
                <a:spcPts val="1400"/>
              </a:spcAft>
              <a:defRPr sz="1100">
                <a:solidFill>
                  <a:srgbClr val="64748B"/>
                </a:solidFill>
              </a:defRPr>
            </a:pPr>
            <a:r>
              <a:t>Berbagi peran efektif (Ketua, Notulis, Desainer, Jubir, Time Keeper) tanpa ada yang 'numpang nama'.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Pertanyaan Pemantik: Mari Amati Lingkungan Kita!</a:t>
            </a:r>
          </a:p>
        </p:txBody>
      </p:sp>
      <p:sp>
        <p:nvSpPr>
          <p:cNvPr id="4" name="Rounded Rectangle 3"/>
          <p:cNvSpPr/>
          <p:nvPr/>
        </p:nvSpPr>
        <p:spPr>
          <a:xfrm>
            <a:off x="731520" y="1463040"/>
            <a:ext cx="10698480" cy="2103120"/>
          </a:xfrm>
          <a:prstGeom prst="roundRect">
            <a:avLst/>
          </a:prstGeom>
          <a:solidFill>
            <a:srgbClr val="EEF2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457200"/>
          </a:xfrm>
          <a:prstGeom prst="rect">
            <a:avLst/>
          </a:prstGeom>
          <a:noFill/>
        </p:spPr>
        <p:txBody>
          <a:bodyPr wrap="square">
            <a:spAutoFit/>
          </a:bodyPr>
          <a:lstStyle/>
          <a:p>
            <a:pPr>
              <a:defRPr sz="1400" b="1">
                <a:solidFill>
                  <a:srgbClr val="1E293B"/>
                </a:solidFill>
              </a:defRPr>
            </a:pPr>
            <a:r>
              <a:t>Skenario Nyata di Sekolah:</a:t>
            </a:r>
          </a:p>
        </p:txBody>
      </p:sp>
      <p:sp>
        <p:nvSpPr>
          <p:cNvPr id="6" name="TextBox 5"/>
          <p:cNvSpPr txBox="1"/>
          <p:nvPr/>
        </p:nvSpPr>
        <p:spPr>
          <a:xfrm>
            <a:off x="1005840" y="2011680"/>
            <a:ext cx="10149840" cy="1371600"/>
          </a:xfrm>
          <a:prstGeom prst="rect">
            <a:avLst/>
          </a:prstGeom>
          <a:noFill/>
        </p:spPr>
        <p:txBody>
          <a:bodyPr wrap="square">
            <a:spAutoFit/>
          </a:bodyPr>
          <a:lstStyle/>
          <a:p>
            <a:pPr>
              <a:defRPr sz="1500" i="1" b="1">
                <a:solidFill>
                  <a:srgbClr val="312E81"/>
                </a:solidFill>
              </a:defRPr>
            </a:pPr>
            <a:r>
              <a:t>"Jam istirahat hanya berlangsung 20 menit. Namun, antrean di kantin sekolah sangat padat, pesanan sering salah, dan banyak siswa akhirnya tidak sempat makan sebelum bel masuk berbunyi. Di sisi lain, sampah bekas kemasan menumpuk di meja."</a:t>
            </a:r>
          </a:p>
        </p:txBody>
      </p:sp>
      <p:sp>
        <p:nvSpPr>
          <p:cNvPr id="7" name="Rounded Rectangle 6"/>
          <p:cNvSpPr/>
          <p:nvPr/>
        </p:nvSpPr>
        <p:spPr>
          <a:xfrm>
            <a:off x="731520" y="3840480"/>
            <a:ext cx="3383280" cy="237744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77640"/>
            <a:ext cx="3017520" cy="457200"/>
          </a:xfrm>
          <a:prstGeom prst="rect">
            <a:avLst/>
          </a:prstGeom>
          <a:noFill/>
        </p:spPr>
        <p:txBody>
          <a:bodyPr wrap="square">
            <a:spAutoFit/>
          </a:bodyPr>
          <a:lstStyle/>
          <a:p>
            <a:pPr>
              <a:defRPr sz="1400" b="1">
                <a:solidFill>
                  <a:srgbClr val="1E293B"/>
                </a:solidFill>
              </a:defRPr>
            </a:pPr>
            <a:r>
              <a:t>Pertanyaan 1</a:t>
            </a:r>
          </a:p>
        </p:txBody>
      </p:sp>
      <p:sp>
        <p:nvSpPr>
          <p:cNvPr id="9" name="TextBox 8"/>
          <p:cNvSpPr txBox="1"/>
          <p:nvPr/>
        </p:nvSpPr>
        <p:spPr>
          <a:xfrm>
            <a:off x="914400" y="4389120"/>
            <a:ext cx="3017520" cy="1645920"/>
          </a:xfrm>
          <a:prstGeom prst="rect">
            <a:avLst/>
          </a:prstGeom>
          <a:noFill/>
        </p:spPr>
        <p:txBody>
          <a:bodyPr wrap="square">
            <a:spAutoFit/>
          </a:bodyPr>
          <a:lstStyle/>
          <a:p>
            <a:pPr>
              <a:defRPr sz="1300">
                <a:solidFill>
                  <a:srgbClr val="1E293B"/>
                </a:solidFill>
              </a:defRPr>
            </a:pPr>
            <a:r>
              <a:t>Apakah masalah ini bisa selesai hanya dengan 'menambah 1 penjual baru'?</a:t>
            </a:r>
          </a:p>
        </p:txBody>
      </p:sp>
      <p:sp>
        <p:nvSpPr>
          <p:cNvPr id="10" name="Rounded Rectangle 9"/>
          <p:cNvSpPr/>
          <p:nvPr/>
        </p:nvSpPr>
        <p:spPr>
          <a:xfrm>
            <a:off x="4389120" y="3840480"/>
            <a:ext cx="3383280" cy="2377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977640"/>
            <a:ext cx="3017520" cy="457200"/>
          </a:xfrm>
          <a:prstGeom prst="rect">
            <a:avLst/>
          </a:prstGeom>
          <a:noFill/>
        </p:spPr>
        <p:txBody>
          <a:bodyPr wrap="square">
            <a:spAutoFit/>
          </a:bodyPr>
          <a:lstStyle/>
          <a:p>
            <a:pPr>
              <a:defRPr sz="1400" b="1">
                <a:solidFill>
                  <a:srgbClr val="1E293B"/>
                </a:solidFill>
              </a:defRPr>
            </a:pPr>
            <a:r>
              <a:t>Pertanyaan 2</a:t>
            </a:r>
          </a:p>
        </p:txBody>
      </p:sp>
      <p:sp>
        <p:nvSpPr>
          <p:cNvPr id="12" name="TextBox 11"/>
          <p:cNvSpPr txBox="1"/>
          <p:nvPr/>
        </p:nvSpPr>
        <p:spPr>
          <a:xfrm>
            <a:off x="4572000" y="4389120"/>
            <a:ext cx="3017520" cy="1645920"/>
          </a:xfrm>
          <a:prstGeom prst="rect">
            <a:avLst/>
          </a:prstGeom>
          <a:noFill/>
        </p:spPr>
        <p:txBody>
          <a:bodyPr wrap="square">
            <a:spAutoFit/>
          </a:bodyPr>
          <a:lstStyle/>
          <a:p>
            <a:pPr>
              <a:defRPr sz="1300">
                <a:solidFill>
                  <a:srgbClr val="1E293B"/>
                </a:solidFill>
              </a:defRPr>
            </a:pPr>
            <a:r>
              <a:t>Mengapa masalah tersebut terasa sangat membingungkan dan rumit?</a:t>
            </a:r>
          </a:p>
        </p:txBody>
      </p:sp>
      <p:sp>
        <p:nvSpPr>
          <p:cNvPr id="13" name="Rounded Rectangle 12"/>
          <p:cNvSpPr/>
          <p:nvPr/>
        </p:nvSpPr>
        <p:spPr>
          <a:xfrm>
            <a:off x="8046720" y="3840480"/>
            <a:ext cx="3383280" cy="2377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3977640"/>
            <a:ext cx="3017520" cy="457200"/>
          </a:xfrm>
          <a:prstGeom prst="rect">
            <a:avLst/>
          </a:prstGeom>
          <a:noFill/>
        </p:spPr>
        <p:txBody>
          <a:bodyPr wrap="square">
            <a:spAutoFit/>
          </a:bodyPr>
          <a:lstStyle/>
          <a:p>
            <a:pPr>
              <a:defRPr sz="1400" b="1">
                <a:solidFill>
                  <a:srgbClr val="1E293B"/>
                </a:solidFill>
              </a:defRPr>
            </a:pPr>
            <a:r>
              <a:t>Pertanyaan 3</a:t>
            </a:r>
          </a:p>
        </p:txBody>
      </p:sp>
      <p:sp>
        <p:nvSpPr>
          <p:cNvPr id="15" name="TextBox 14"/>
          <p:cNvSpPr txBox="1"/>
          <p:nvPr/>
        </p:nvSpPr>
        <p:spPr>
          <a:xfrm>
            <a:off x="8229600" y="4389120"/>
            <a:ext cx="3017520" cy="1645920"/>
          </a:xfrm>
          <a:prstGeom prst="rect">
            <a:avLst/>
          </a:prstGeom>
          <a:noFill/>
        </p:spPr>
        <p:txBody>
          <a:bodyPr wrap="square">
            <a:spAutoFit/>
          </a:bodyPr>
          <a:lstStyle/>
          <a:p>
            <a:pPr>
              <a:defRPr sz="1300">
                <a:solidFill>
                  <a:srgbClr val="1E293B"/>
                </a:solidFill>
              </a:defRPr>
            </a:pPr>
            <a:r>
              <a:t>Jika kalian menjadi ketua tim, dari mana kalian akan mulai membedahnya?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Membedakan: Masalah Sederhana vs Masalah Kompleks</a:t>
            </a:r>
          </a:p>
        </p:txBody>
      </p:sp>
      <p:sp>
        <p:nvSpPr>
          <p:cNvPr id="4" name="Rounded Rectangle 3"/>
          <p:cNvSpPr/>
          <p:nvPr/>
        </p:nvSpPr>
        <p:spPr>
          <a:xfrm>
            <a:off x="731520" y="1463040"/>
            <a:ext cx="5120640" cy="4754880"/>
          </a:xfrm>
          <a:prstGeom prst="roundRect">
            <a:avLst/>
          </a:prstGeom>
          <a:solidFill>
            <a:srgbClr val="F0FDF4"/>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457200"/>
          </a:xfrm>
          <a:prstGeom prst="rect">
            <a:avLst/>
          </a:prstGeom>
          <a:noFill/>
        </p:spPr>
        <p:txBody>
          <a:bodyPr wrap="square">
            <a:spAutoFit/>
          </a:bodyPr>
          <a:lstStyle/>
          <a:p>
            <a:pPr>
              <a:defRPr sz="1400" b="1">
                <a:solidFill>
                  <a:srgbClr val="1E293B"/>
                </a:solidFill>
              </a:defRPr>
            </a:pPr>
            <a:r>
              <a:t>🟢 Masalah Sederhana (Simple Problem)</a:t>
            </a:r>
          </a:p>
        </p:txBody>
      </p:sp>
      <p:sp>
        <p:nvSpPr>
          <p:cNvPr id="6" name="TextBox 5"/>
          <p:cNvSpPr txBox="1"/>
          <p:nvPr/>
        </p:nvSpPr>
        <p:spPr>
          <a:xfrm>
            <a:off x="914400" y="2103120"/>
            <a:ext cx="4754880" cy="3840480"/>
          </a:xfrm>
          <a:prstGeom prst="rect">
            <a:avLst/>
          </a:prstGeom>
          <a:noFill/>
        </p:spPr>
        <p:txBody>
          <a:bodyPr wrap="square">
            <a:spAutoFit/>
          </a:bodyPr>
          <a:lstStyle/>
          <a:p>
            <a:pPr>
              <a:defRPr b="1" sz="1200">
                <a:solidFill>
                  <a:srgbClr val="065F46"/>
                </a:solidFill>
              </a:defRPr>
            </a:pPr>
            <a:r>
              <a:t>Karakteristik:</a:t>
            </a:r>
          </a:p>
          <a:p>
            <a:pPr>
              <a:spcAft>
                <a:spcPts val="800"/>
              </a:spcAft>
              <a:defRPr sz="1100">
                <a:solidFill>
                  <a:srgbClr val="64748B"/>
                </a:solidFill>
              </a:defRPr>
            </a:pPr>
            <a:r>
              <a:t>Memiliki hubungan sebab-akibat yang jelas dan linier. Solusinya dapat langsung diterapkan.</a:t>
            </a:r>
          </a:p>
          <a:p>
            <a:pPr>
              <a:defRPr b="1" sz="1200">
                <a:solidFill>
                  <a:srgbClr val="065F46"/>
                </a:solidFill>
              </a:defRPr>
            </a:pPr>
            <a:r>
              <a:t>Jumlah Variabel:</a:t>
            </a:r>
          </a:p>
          <a:p>
            <a:pPr>
              <a:spcAft>
                <a:spcPts val="800"/>
              </a:spcAft>
              <a:defRPr sz="1100">
                <a:solidFill>
                  <a:srgbClr val="64748B"/>
                </a:solidFill>
              </a:defRPr>
            </a:pPr>
            <a:r>
              <a:t>Sedikit, pasti, dan tidak banyak dipengaruhi faktor tak terduga.</a:t>
            </a:r>
          </a:p>
          <a:p>
            <a:pPr>
              <a:defRPr b="1" sz="1200">
                <a:solidFill>
                  <a:srgbClr val="065F46"/>
                </a:solidFill>
              </a:defRPr>
            </a:pPr>
            <a:r>
              <a:t>Pola Penyelesaian:</a:t>
            </a:r>
          </a:p>
          <a:p>
            <a:pPr>
              <a:spcAft>
                <a:spcPts val="800"/>
              </a:spcAft>
              <a:defRPr sz="1100">
                <a:solidFill>
                  <a:srgbClr val="64748B"/>
                </a:solidFill>
              </a:defRPr>
            </a:pPr>
            <a:r>
              <a:t>Tindakan langsung (1 atau 2 langkah sudah beres).</a:t>
            </a:r>
          </a:p>
          <a:p>
            <a:pPr>
              <a:defRPr b="1" sz="1200">
                <a:solidFill>
                  <a:srgbClr val="065F46"/>
                </a:solidFill>
              </a:defRPr>
            </a:pPr>
            <a:r>
              <a:t>Contoh Riil:</a:t>
            </a:r>
          </a:p>
          <a:p>
            <a:pPr>
              <a:spcAft>
                <a:spcPts val="800"/>
              </a:spcAft>
              <a:defRPr sz="1100">
                <a:solidFill>
                  <a:srgbClr val="64748B"/>
                </a:solidFill>
              </a:defRPr>
            </a:pPr>
            <a:r>
              <a:t>1. Bohlam lampu kelas putus -&gt; Ganti bohlam baru.</a:t>
            </a:r>
            <a:br/>
            <a:r>
              <a:t>2. Baterai kalkulator habis -&gt; Pasang baterai baru.</a:t>
            </a:r>
            <a:br/>
            <a:r>
              <a:t>3. Pintu kelas berderit -&gt; Beri pelumas engsel.</a:t>
            </a:r>
          </a:p>
        </p:txBody>
      </p:sp>
      <p:sp>
        <p:nvSpPr>
          <p:cNvPr id="7" name="Rounded Rectangle 6"/>
          <p:cNvSpPr/>
          <p:nvPr/>
        </p:nvSpPr>
        <p:spPr>
          <a:xfrm>
            <a:off x="6217920" y="1463040"/>
            <a:ext cx="5212080" cy="4754880"/>
          </a:xfrm>
          <a:prstGeom prst="roundRect">
            <a:avLst/>
          </a:prstGeom>
          <a:solidFill>
            <a:srgbClr val="FFF1F2"/>
          </a:solidFill>
          <a:ln w="1905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57200"/>
          </a:xfrm>
          <a:prstGeom prst="rect">
            <a:avLst/>
          </a:prstGeom>
          <a:noFill/>
        </p:spPr>
        <p:txBody>
          <a:bodyPr wrap="square">
            <a:spAutoFit/>
          </a:bodyPr>
          <a:lstStyle/>
          <a:p>
            <a:pPr>
              <a:defRPr sz="1400" b="1">
                <a:solidFill>
                  <a:srgbClr val="1E293B"/>
                </a:solidFill>
              </a:defRPr>
            </a:pPr>
            <a:r>
              <a:t>🔴 Masalah Kompleks (Complex Problem)</a:t>
            </a:r>
          </a:p>
        </p:txBody>
      </p:sp>
      <p:sp>
        <p:nvSpPr>
          <p:cNvPr id="9" name="TextBox 8"/>
          <p:cNvSpPr txBox="1"/>
          <p:nvPr/>
        </p:nvSpPr>
        <p:spPr>
          <a:xfrm>
            <a:off x="6400800" y="2103120"/>
            <a:ext cx="4846320" cy="3840480"/>
          </a:xfrm>
          <a:prstGeom prst="rect">
            <a:avLst/>
          </a:prstGeom>
          <a:noFill/>
        </p:spPr>
        <p:txBody>
          <a:bodyPr wrap="square">
            <a:spAutoFit/>
          </a:bodyPr>
          <a:lstStyle/>
          <a:p>
            <a:pPr>
              <a:defRPr b="1" sz="1200">
                <a:solidFill>
                  <a:srgbClr val="9F1239"/>
                </a:solidFill>
              </a:defRPr>
            </a:pPr>
            <a:r>
              <a:t>Karakteristik:</a:t>
            </a:r>
          </a:p>
          <a:p>
            <a:pPr>
              <a:spcAft>
                <a:spcPts val="800"/>
              </a:spcAft>
              <a:defRPr sz="1100">
                <a:solidFill>
                  <a:srgbClr val="64748B"/>
                </a:solidFill>
              </a:defRPr>
            </a:pPr>
            <a:r>
              <a:t>Memiliki banyak elemen yang saling berkaitan. Tidak memiliki satu solusi instan ajaib.</a:t>
            </a:r>
          </a:p>
          <a:p>
            <a:pPr>
              <a:defRPr b="1" sz="1200">
                <a:solidFill>
                  <a:srgbClr val="9F1239"/>
                </a:solidFill>
              </a:defRPr>
            </a:pPr>
            <a:r>
              <a:t>Jumlah Variabel:</a:t>
            </a:r>
          </a:p>
          <a:p>
            <a:pPr>
              <a:spcAft>
                <a:spcPts val="800"/>
              </a:spcAft>
              <a:defRPr sz="1100">
                <a:solidFill>
                  <a:srgbClr val="64748B"/>
                </a:solidFill>
              </a:defRPr>
            </a:pPr>
            <a:r>
              <a:t>Banyak (melibatkan perilaku manusia, waktu, fasilitas, dan anggaran).</a:t>
            </a:r>
          </a:p>
          <a:p>
            <a:pPr>
              <a:defRPr b="1" sz="1200">
                <a:solidFill>
                  <a:srgbClr val="9F1239"/>
                </a:solidFill>
              </a:defRPr>
            </a:pPr>
            <a:r>
              <a:t>Pola Penyelesaian:</a:t>
            </a:r>
          </a:p>
          <a:p>
            <a:pPr>
              <a:spcAft>
                <a:spcPts val="800"/>
              </a:spcAft>
              <a:defRPr sz="1100">
                <a:solidFill>
                  <a:srgbClr val="64748B"/>
                </a:solidFill>
              </a:defRPr>
            </a:pPr>
            <a:r>
              <a:t>Harus diurai menjadi sub-masalah kecil (Dekomposisi) lalu diselesaikan terpadu.</a:t>
            </a:r>
          </a:p>
          <a:p>
            <a:pPr>
              <a:defRPr b="1" sz="1200">
                <a:solidFill>
                  <a:srgbClr val="9F1239"/>
                </a:solidFill>
              </a:defRPr>
            </a:pPr>
            <a:r>
              <a:t>Contoh Riil:</a:t>
            </a:r>
          </a:p>
          <a:p>
            <a:pPr>
              <a:spcAft>
                <a:spcPts val="800"/>
              </a:spcAft>
              <a:defRPr sz="1100">
                <a:solidFill>
                  <a:srgbClr val="64748B"/>
                </a:solidFill>
              </a:defRPr>
            </a:pPr>
            <a:r>
              <a:t>1. Kemacetan gerbang SMAN 7 jam 06.45.</a:t>
            </a:r>
            <a:br/>
            <a:r>
              <a:t>2. Penumpukan antrean kantin &amp; sampah plastik.</a:t>
            </a:r>
            <a:br/>
            <a:r>
              <a:t>3. Kebiasaan siswa menunda tugas LKPD.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Pilar 1 Berpikir Komputasional: Apa itu Dekomposisi?</a:t>
            </a:r>
          </a:p>
        </p:txBody>
      </p:sp>
      <p:sp>
        <p:nvSpPr>
          <p:cNvPr id="4" name="Rounded Rectangle 3"/>
          <p:cNvSpPr/>
          <p:nvPr/>
        </p:nvSpPr>
        <p:spPr>
          <a:xfrm>
            <a:off x="731520" y="1463040"/>
            <a:ext cx="10698480" cy="164592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1280160"/>
          </a:xfrm>
          <a:prstGeom prst="rect">
            <a:avLst/>
          </a:prstGeom>
          <a:noFill/>
        </p:spPr>
        <p:txBody>
          <a:bodyPr wrap="square">
            <a:spAutoFit/>
          </a:bodyPr>
          <a:lstStyle/>
          <a:p>
            <a:pPr>
              <a:defRPr sz="1100" b="1">
                <a:solidFill>
                  <a:srgbClr val="4F46E5"/>
                </a:solidFill>
              </a:defRPr>
            </a:pPr>
            <a:r>
              <a:t>DEFINISI OPERASIONAL DEKOMPOSISI:</a:t>
            </a:r>
          </a:p>
          <a:p>
            <a:pPr>
              <a:defRPr sz="1400" b="1">
                <a:solidFill>
                  <a:srgbClr val="1E293B"/>
                </a:solidFill>
              </a:defRPr>
            </a:pPr>
            <a:r>
              <a:t>"Proses memecah permasalahan besar, rumit, atau kompleks menjadi bagian-bagian (sub-masalah) yang lebih kecil, terfokus, dan terstruktur sehingga lebih mudah dianalisis, dirancang solusinya, dan diselesaikan satu demi satu."</a:t>
            </a:r>
          </a:p>
        </p:txBody>
      </p:sp>
      <p:sp>
        <p:nvSpPr>
          <p:cNvPr id="6" name="Rounded Rectangle 5"/>
          <p:cNvSpPr/>
          <p:nvPr/>
        </p:nvSpPr>
        <p:spPr>
          <a:xfrm>
            <a:off x="731520" y="3383280"/>
            <a:ext cx="3383280" cy="2834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520440"/>
            <a:ext cx="3017520" cy="457200"/>
          </a:xfrm>
          <a:prstGeom prst="rect">
            <a:avLst/>
          </a:prstGeom>
          <a:noFill/>
        </p:spPr>
        <p:txBody>
          <a:bodyPr wrap="square">
            <a:spAutoFit/>
          </a:bodyPr>
          <a:lstStyle/>
          <a:p>
            <a:pPr>
              <a:defRPr sz="1400" b="1">
                <a:solidFill>
                  <a:srgbClr val="1E293B"/>
                </a:solidFill>
              </a:defRPr>
            </a:pPr>
            <a:r>
              <a:t>1. Mengurangi Beban Pikiran (Cognitive Load)</a:t>
            </a:r>
          </a:p>
        </p:txBody>
      </p:sp>
      <p:sp>
        <p:nvSpPr>
          <p:cNvPr id="8" name="TextBox 7"/>
          <p:cNvSpPr txBox="1"/>
          <p:nvPr/>
        </p:nvSpPr>
        <p:spPr>
          <a:xfrm>
            <a:off x="914400" y="3931920"/>
            <a:ext cx="3017520" cy="2103120"/>
          </a:xfrm>
          <a:prstGeom prst="rect">
            <a:avLst/>
          </a:prstGeom>
          <a:noFill/>
        </p:spPr>
        <p:txBody>
          <a:bodyPr wrap="square">
            <a:spAutoFit/>
          </a:bodyPr>
          <a:lstStyle/>
          <a:p>
            <a:pPr>
              <a:defRPr sz="1200">
                <a:solidFill>
                  <a:srgbClr val="64748B"/>
                </a:solidFill>
              </a:defRPr>
            </a:pPr>
            <a:r>
              <a:t>Ketika masalah terlihat raksasa, otak manusia mudah panik/buntu. Dengan memecahnya, kita hanya fokus menyelesaikan 1 bagian kecil dalam satu waktu.</a:t>
            </a:r>
          </a:p>
        </p:txBody>
      </p:sp>
      <p:sp>
        <p:nvSpPr>
          <p:cNvPr id="9" name="Rounded Rectangle 8"/>
          <p:cNvSpPr/>
          <p:nvPr/>
        </p:nvSpPr>
        <p:spPr>
          <a:xfrm>
            <a:off x="4389120" y="3383280"/>
            <a:ext cx="3383280" cy="2834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3520440"/>
            <a:ext cx="3017520" cy="457200"/>
          </a:xfrm>
          <a:prstGeom prst="rect">
            <a:avLst/>
          </a:prstGeom>
          <a:noFill/>
        </p:spPr>
        <p:txBody>
          <a:bodyPr wrap="square">
            <a:spAutoFit/>
          </a:bodyPr>
          <a:lstStyle/>
          <a:p>
            <a:pPr>
              <a:defRPr sz="1400" b="1">
                <a:solidFill>
                  <a:srgbClr val="1E293B"/>
                </a:solidFill>
              </a:defRPr>
            </a:pPr>
            <a:r>
              <a:t>2. Pembagian Kerja Tim (Teamwork)</a:t>
            </a:r>
          </a:p>
        </p:txBody>
      </p:sp>
      <p:sp>
        <p:nvSpPr>
          <p:cNvPr id="11" name="TextBox 10"/>
          <p:cNvSpPr txBox="1"/>
          <p:nvPr/>
        </p:nvSpPr>
        <p:spPr>
          <a:xfrm>
            <a:off x="4572000" y="3931920"/>
            <a:ext cx="3017520" cy="2103120"/>
          </a:xfrm>
          <a:prstGeom prst="rect">
            <a:avLst/>
          </a:prstGeom>
          <a:noFill/>
        </p:spPr>
        <p:txBody>
          <a:bodyPr wrap="square">
            <a:spAutoFit/>
          </a:bodyPr>
          <a:lstStyle/>
          <a:p>
            <a:pPr>
              <a:defRPr sz="1200">
                <a:solidFill>
                  <a:srgbClr val="64748B"/>
                </a:solidFill>
              </a:defRPr>
            </a:pPr>
            <a:r>
              <a:t>Masalah besar sulit dikerjakan bersama tanpa pembagian. Melalui sub-masalah, setiap anggota tim mendapat tugas konkret yang jelas.</a:t>
            </a:r>
          </a:p>
        </p:txBody>
      </p:sp>
      <p:sp>
        <p:nvSpPr>
          <p:cNvPr id="12" name="Rounded Rectangle 11"/>
          <p:cNvSpPr/>
          <p:nvPr/>
        </p:nvSpPr>
        <p:spPr>
          <a:xfrm>
            <a:off x="8046720" y="3383280"/>
            <a:ext cx="3383280" cy="2834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3520440"/>
            <a:ext cx="3017520" cy="457200"/>
          </a:xfrm>
          <a:prstGeom prst="rect">
            <a:avLst/>
          </a:prstGeom>
          <a:noFill/>
        </p:spPr>
        <p:txBody>
          <a:bodyPr wrap="square">
            <a:spAutoFit/>
          </a:bodyPr>
          <a:lstStyle/>
          <a:p>
            <a:pPr>
              <a:defRPr sz="1400" b="1">
                <a:solidFill>
                  <a:srgbClr val="1E293B"/>
                </a:solidFill>
              </a:defRPr>
            </a:pPr>
            <a:r>
              <a:t>3. Landasan Koding &amp; Kecerdasan Buatan</a:t>
            </a:r>
          </a:p>
        </p:txBody>
      </p:sp>
      <p:sp>
        <p:nvSpPr>
          <p:cNvPr id="14" name="TextBox 13"/>
          <p:cNvSpPr txBox="1"/>
          <p:nvPr/>
        </p:nvSpPr>
        <p:spPr>
          <a:xfrm>
            <a:off x="8229600" y="3931920"/>
            <a:ext cx="3017520" cy="2103120"/>
          </a:xfrm>
          <a:prstGeom prst="rect">
            <a:avLst/>
          </a:prstGeom>
          <a:noFill/>
        </p:spPr>
        <p:txBody>
          <a:bodyPr wrap="square">
            <a:spAutoFit/>
          </a:bodyPr>
          <a:lstStyle/>
          <a:p>
            <a:pPr>
              <a:defRPr sz="1200">
                <a:solidFill>
                  <a:srgbClr val="64748B"/>
                </a:solidFill>
              </a:defRPr>
            </a:pPr>
            <a:r>
              <a:t>Komputer dan AI tidak paham perintah umum seperti 'selesaikan antrean!'. Komputer butuh modul-modul fungsi kecil (modularitas fungsi).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Alat Bantu 1: Menentukan Ruang Lingkup dengan 5W + 1H</a:t>
            </a:r>
          </a:p>
        </p:txBody>
      </p:sp>
      <p:sp>
        <p:nvSpPr>
          <p:cNvPr id="4" name="Rounded Rectangle 3"/>
          <p:cNvSpPr/>
          <p:nvPr/>
        </p:nvSpPr>
        <p:spPr>
          <a:xfrm>
            <a:off x="731520" y="146304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57200"/>
          </a:xfrm>
          <a:prstGeom prst="rect">
            <a:avLst/>
          </a:prstGeom>
          <a:noFill/>
        </p:spPr>
        <p:txBody>
          <a:bodyPr wrap="square">
            <a:spAutoFit/>
          </a:bodyPr>
          <a:lstStyle/>
          <a:p>
            <a:pPr>
              <a:defRPr sz="1400" b="1">
                <a:solidFill>
                  <a:srgbClr val="1E293B"/>
                </a:solidFill>
              </a:defRPr>
            </a:pPr>
            <a:r>
              <a:t>WHO (Siapa?)</a:t>
            </a:r>
          </a:p>
        </p:txBody>
      </p:sp>
      <p:sp>
        <p:nvSpPr>
          <p:cNvPr id="6" name="TextBox 5"/>
          <p:cNvSpPr txBox="1"/>
          <p:nvPr/>
        </p:nvSpPr>
        <p:spPr>
          <a:xfrm>
            <a:off x="914400" y="2103120"/>
            <a:ext cx="3017520" cy="1371600"/>
          </a:xfrm>
          <a:prstGeom prst="rect">
            <a:avLst/>
          </a:prstGeom>
          <a:noFill/>
        </p:spPr>
        <p:txBody>
          <a:bodyPr wrap="square">
            <a:spAutoFit/>
          </a:bodyPr>
          <a:lstStyle/>
          <a:p>
            <a:pPr>
              <a:defRPr sz="1100">
                <a:solidFill>
                  <a:srgbClr val="64748B"/>
                </a:solidFill>
              </a:defRPr>
            </a:pPr>
            <a:r>
              <a:t>Siapa saja yang terdampak oleh masalah ini? Siapa yang menjadi penyebab? Siapa pihak penanggung jawab?</a:t>
            </a:r>
          </a:p>
        </p:txBody>
      </p:sp>
      <p:sp>
        <p:nvSpPr>
          <p:cNvPr id="7" name="Rounded Rectangle 6"/>
          <p:cNvSpPr/>
          <p:nvPr/>
        </p:nvSpPr>
        <p:spPr>
          <a:xfrm>
            <a:off x="4389120" y="146304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57200"/>
          </a:xfrm>
          <a:prstGeom prst="rect">
            <a:avLst/>
          </a:prstGeom>
          <a:noFill/>
        </p:spPr>
        <p:txBody>
          <a:bodyPr wrap="square">
            <a:spAutoFit/>
          </a:bodyPr>
          <a:lstStyle/>
          <a:p>
            <a:pPr>
              <a:defRPr sz="1400" b="1">
                <a:solidFill>
                  <a:srgbClr val="1E293B"/>
                </a:solidFill>
              </a:defRPr>
            </a:pPr>
            <a:r>
              <a:t>WHAT (Apa?)</a:t>
            </a:r>
          </a:p>
        </p:txBody>
      </p:sp>
      <p:sp>
        <p:nvSpPr>
          <p:cNvPr id="9" name="TextBox 8"/>
          <p:cNvSpPr txBox="1"/>
          <p:nvPr/>
        </p:nvSpPr>
        <p:spPr>
          <a:xfrm>
            <a:off x="4572000" y="2103120"/>
            <a:ext cx="3017520" cy="1371600"/>
          </a:xfrm>
          <a:prstGeom prst="rect">
            <a:avLst/>
          </a:prstGeom>
          <a:noFill/>
        </p:spPr>
        <p:txBody>
          <a:bodyPr wrap="square">
            <a:spAutoFit/>
          </a:bodyPr>
          <a:lstStyle/>
          <a:p>
            <a:pPr>
              <a:defRPr sz="1100">
                <a:solidFill>
                  <a:srgbClr val="64748B"/>
                </a:solidFill>
              </a:defRPr>
            </a:pPr>
            <a:r>
              <a:t>Apa gejala nyata yang terlihat? Apa dampak buruk jika masalah ini dibiarkan begitu saja?</a:t>
            </a:r>
          </a:p>
        </p:txBody>
      </p:sp>
      <p:sp>
        <p:nvSpPr>
          <p:cNvPr id="10" name="Rounded Rectangle 9"/>
          <p:cNvSpPr/>
          <p:nvPr/>
        </p:nvSpPr>
        <p:spPr>
          <a:xfrm>
            <a:off x="8046720" y="146304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57200"/>
          </a:xfrm>
          <a:prstGeom prst="rect">
            <a:avLst/>
          </a:prstGeom>
          <a:noFill/>
        </p:spPr>
        <p:txBody>
          <a:bodyPr wrap="square">
            <a:spAutoFit/>
          </a:bodyPr>
          <a:lstStyle/>
          <a:p>
            <a:pPr>
              <a:defRPr sz="1400" b="1">
                <a:solidFill>
                  <a:srgbClr val="1E293B"/>
                </a:solidFill>
              </a:defRPr>
            </a:pPr>
            <a:r>
              <a:t>WHERE (Di mana?)</a:t>
            </a:r>
          </a:p>
        </p:txBody>
      </p:sp>
      <p:sp>
        <p:nvSpPr>
          <p:cNvPr id="12" name="TextBox 11"/>
          <p:cNvSpPr txBox="1"/>
          <p:nvPr/>
        </p:nvSpPr>
        <p:spPr>
          <a:xfrm>
            <a:off x="8229600" y="2103120"/>
            <a:ext cx="3017520" cy="1371600"/>
          </a:xfrm>
          <a:prstGeom prst="rect">
            <a:avLst/>
          </a:prstGeom>
          <a:noFill/>
        </p:spPr>
        <p:txBody>
          <a:bodyPr wrap="square">
            <a:spAutoFit/>
          </a:bodyPr>
          <a:lstStyle/>
          <a:p>
            <a:pPr>
              <a:defRPr sz="1100">
                <a:solidFill>
                  <a:srgbClr val="64748B"/>
                </a:solidFill>
              </a:defRPr>
            </a:pPr>
            <a:r>
              <a:t>Di titik lokasi mana masalah paling sering menumpuk atau terjadi? Mengapa lokasi itu spesifik?</a:t>
            </a:r>
          </a:p>
        </p:txBody>
      </p:sp>
      <p:sp>
        <p:nvSpPr>
          <p:cNvPr id="13" name="Rounded Rectangle 12"/>
          <p:cNvSpPr/>
          <p:nvPr/>
        </p:nvSpPr>
        <p:spPr>
          <a:xfrm>
            <a:off x="731520" y="393192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69080"/>
            <a:ext cx="3017520" cy="457200"/>
          </a:xfrm>
          <a:prstGeom prst="rect">
            <a:avLst/>
          </a:prstGeom>
          <a:noFill/>
        </p:spPr>
        <p:txBody>
          <a:bodyPr wrap="square">
            <a:spAutoFit/>
          </a:bodyPr>
          <a:lstStyle/>
          <a:p>
            <a:pPr>
              <a:defRPr sz="1400" b="1">
                <a:solidFill>
                  <a:srgbClr val="1E293B"/>
                </a:solidFill>
              </a:defRPr>
            </a:pPr>
            <a:r>
              <a:t>WHEN (Kapan?)</a:t>
            </a:r>
          </a:p>
        </p:txBody>
      </p:sp>
      <p:sp>
        <p:nvSpPr>
          <p:cNvPr id="15" name="TextBox 14"/>
          <p:cNvSpPr txBox="1"/>
          <p:nvPr/>
        </p:nvSpPr>
        <p:spPr>
          <a:xfrm>
            <a:off x="914400" y="4572000"/>
            <a:ext cx="3017520" cy="1371600"/>
          </a:xfrm>
          <a:prstGeom prst="rect">
            <a:avLst/>
          </a:prstGeom>
          <a:noFill/>
        </p:spPr>
        <p:txBody>
          <a:bodyPr wrap="square">
            <a:spAutoFit/>
          </a:bodyPr>
          <a:lstStyle/>
          <a:p>
            <a:pPr>
              <a:defRPr sz="1100">
                <a:solidFill>
                  <a:srgbClr val="64748B"/>
                </a:solidFill>
              </a:defRPr>
            </a:pPr>
            <a:r>
              <a:t>Kapan masalah mencapai puncaknya? Apakah ada pola waktu jam tertentu (jam istirahat/pulang)?</a:t>
            </a:r>
          </a:p>
        </p:txBody>
      </p:sp>
      <p:sp>
        <p:nvSpPr>
          <p:cNvPr id="16" name="Rounded Rectangle 15"/>
          <p:cNvSpPr/>
          <p:nvPr/>
        </p:nvSpPr>
        <p:spPr>
          <a:xfrm>
            <a:off x="4389120" y="393192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4069080"/>
            <a:ext cx="3017520" cy="457200"/>
          </a:xfrm>
          <a:prstGeom prst="rect">
            <a:avLst/>
          </a:prstGeom>
          <a:noFill/>
        </p:spPr>
        <p:txBody>
          <a:bodyPr wrap="square">
            <a:spAutoFit/>
          </a:bodyPr>
          <a:lstStyle/>
          <a:p>
            <a:pPr>
              <a:defRPr sz="1400" b="1">
                <a:solidFill>
                  <a:srgbClr val="1E293B"/>
                </a:solidFill>
              </a:defRPr>
            </a:pPr>
            <a:r>
              <a:t>WHY (Mengapa?)</a:t>
            </a:r>
          </a:p>
        </p:txBody>
      </p:sp>
      <p:sp>
        <p:nvSpPr>
          <p:cNvPr id="18" name="TextBox 17"/>
          <p:cNvSpPr txBox="1"/>
          <p:nvPr/>
        </p:nvSpPr>
        <p:spPr>
          <a:xfrm>
            <a:off x="4572000" y="4572000"/>
            <a:ext cx="3017520" cy="1371600"/>
          </a:xfrm>
          <a:prstGeom prst="rect">
            <a:avLst/>
          </a:prstGeom>
          <a:noFill/>
        </p:spPr>
        <p:txBody>
          <a:bodyPr wrap="square">
            <a:spAutoFit/>
          </a:bodyPr>
          <a:lstStyle/>
          <a:p>
            <a:pPr>
              <a:defRPr sz="1100">
                <a:solidFill>
                  <a:srgbClr val="64748B"/>
                </a:solidFill>
              </a:defRPr>
            </a:pPr>
            <a:r>
              <a:t>Mengapa masalah ini bisa terjadi? Apa faktor kebiasaan atau sistem yang belum berjalan rapi?</a:t>
            </a:r>
          </a:p>
        </p:txBody>
      </p:sp>
      <p:sp>
        <p:nvSpPr>
          <p:cNvPr id="19" name="Rounded Rectangle 18"/>
          <p:cNvSpPr/>
          <p:nvPr/>
        </p:nvSpPr>
        <p:spPr>
          <a:xfrm>
            <a:off x="8046720" y="393192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4069080"/>
            <a:ext cx="3017520" cy="457200"/>
          </a:xfrm>
          <a:prstGeom prst="rect">
            <a:avLst/>
          </a:prstGeom>
          <a:noFill/>
        </p:spPr>
        <p:txBody>
          <a:bodyPr wrap="square">
            <a:spAutoFit/>
          </a:bodyPr>
          <a:lstStyle/>
          <a:p>
            <a:pPr>
              <a:defRPr sz="1400" b="1">
                <a:solidFill>
                  <a:srgbClr val="1E293B"/>
                </a:solidFill>
              </a:defRPr>
            </a:pPr>
            <a:r>
              <a:t>HOW (Bagaimana?)</a:t>
            </a:r>
          </a:p>
        </p:txBody>
      </p:sp>
      <p:sp>
        <p:nvSpPr>
          <p:cNvPr id="21" name="TextBox 20"/>
          <p:cNvSpPr txBox="1"/>
          <p:nvPr/>
        </p:nvSpPr>
        <p:spPr>
          <a:xfrm>
            <a:off x="8229600" y="4572000"/>
            <a:ext cx="3017520" cy="1371600"/>
          </a:xfrm>
          <a:prstGeom prst="rect">
            <a:avLst/>
          </a:prstGeom>
          <a:noFill/>
        </p:spPr>
        <p:txBody>
          <a:bodyPr wrap="square">
            <a:spAutoFit/>
          </a:bodyPr>
          <a:lstStyle/>
          <a:p>
            <a:pPr>
              <a:defRPr sz="1100">
                <a:solidFill>
                  <a:srgbClr val="64748B"/>
                </a:solidFill>
              </a:defRPr>
            </a:pPr>
            <a:r>
              <a:t>Bagaimana kondisi saat ini berjalan? Berapa lama durasi rata-rata yang terbuang sia-sia?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Alat Bantu 2: Pohon Dekomposisi Minimal 3 Tingkat</a:t>
            </a:r>
          </a:p>
        </p:txBody>
      </p:sp>
      <p:sp>
        <p:nvSpPr>
          <p:cNvPr id="4" name="Rounded Rectangle 3"/>
          <p:cNvSpPr/>
          <p:nvPr/>
        </p:nvSpPr>
        <p:spPr>
          <a:xfrm>
            <a:off x="731520" y="1463040"/>
            <a:ext cx="10698480" cy="1463040"/>
          </a:xfrm>
          <a:prstGeom prst="roundRect">
            <a:avLst/>
          </a:prstGeom>
          <a:solidFill>
            <a:srgbClr val="E0E7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457200"/>
          </a:xfrm>
          <a:prstGeom prst="rect">
            <a:avLst/>
          </a:prstGeom>
          <a:noFill/>
        </p:spPr>
        <p:txBody>
          <a:bodyPr wrap="square">
            <a:spAutoFit/>
          </a:bodyPr>
          <a:lstStyle/>
          <a:p>
            <a:pPr>
              <a:defRPr sz="1400" b="1">
                <a:solidFill>
                  <a:srgbClr val="1E293B"/>
                </a:solidFill>
              </a:defRPr>
            </a:pPr>
            <a:r>
              <a:t>TINGKAT 1: MASALAH UTAMA (Akar Masalah)</a:t>
            </a:r>
          </a:p>
        </p:txBody>
      </p:sp>
      <p:sp>
        <p:nvSpPr>
          <p:cNvPr id="6" name="TextBox 5"/>
          <p:cNvSpPr txBox="1"/>
          <p:nvPr/>
        </p:nvSpPr>
        <p:spPr>
          <a:xfrm>
            <a:off x="914400" y="2011680"/>
            <a:ext cx="10332720" cy="822960"/>
          </a:xfrm>
          <a:prstGeom prst="rect">
            <a:avLst/>
          </a:prstGeom>
          <a:noFill/>
        </p:spPr>
        <p:txBody>
          <a:bodyPr wrap="square">
            <a:spAutoFit/>
          </a:bodyPr>
          <a:lstStyle/>
          <a:p>
            <a:pPr>
              <a:defRPr sz="1200">
                <a:solidFill>
                  <a:srgbClr val="1E293B"/>
                </a:solidFill>
              </a:defRPr>
            </a:pPr>
            <a:r>
              <a:t>Rumusan masalah besar yang autentik dan ingin dipecahkan.</a:t>
            </a:r>
            <a:br/>
            <a:r>
              <a:t>Contoh: 'Penumpukan Antrean dan Keterlambatan Layanan Kantin SMAN 7'</a:t>
            </a:r>
          </a:p>
        </p:txBody>
      </p:sp>
      <p:sp>
        <p:nvSpPr>
          <p:cNvPr id="7" name="Rounded Rectangle 6"/>
          <p:cNvSpPr/>
          <p:nvPr/>
        </p:nvSpPr>
        <p:spPr>
          <a:xfrm>
            <a:off x="731520" y="3108960"/>
            <a:ext cx="10698480" cy="146304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46120"/>
            <a:ext cx="10332720" cy="457200"/>
          </a:xfrm>
          <a:prstGeom prst="rect">
            <a:avLst/>
          </a:prstGeom>
          <a:noFill/>
        </p:spPr>
        <p:txBody>
          <a:bodyPr wrap="square">
            <a:spAutoFit/>
          </a:bodyPr>
          <a:lstStyle/>
          <a:p>
            <a:pPr>
              <a:defRPr sz="1400" b="1">
                <a:solidFill>
                  <a:srgbClr val="1E293B"/>
                </a:solidFill>
              </a:defRPr>
            </a:pPr>
            <a:r>
              <a:t>TINGKAT 2: KATEGORI SUB-MASALAH (Cabang Utama)</a:t>
            </a:r>
          </a:p>
        </p:txBody>
      </p:sp>
      <p:sp>
        <p:nvSpPr>
          <p:cNvPr id="9" name="TextBox 8"/>
          <p:cNvSpPr txBox="1"/>
          <p:nvPr/>
        </p:nvSpPr>
        <p:spPr>
          <a:xfrm>
            <a:off x="914400" y="3657600"/>
            <a:ext cx="10332720" cy="822960"/>
          </a:xfrm>
          <a:prstGeom prst="rect">
            <a:avLst/>
          </a:prstGeom>
          <a:noFill/>
        </p:spPr>
        <p:txBody>
          <a:bodyPr wrap="square">
            <a:spAutoFit/>
          </a:bodyPr>
          <a:lstStyle/>
          <a:p>
            <a:pPr>
              <a:defRPr sz="1200">
                <a:solidFill>
                  <a:srgbClr val="1E293B"/>
                </a:solidFill>
              </a:defRPr>
            </a:pPr>
            <a:r>
              <a:t>Pemilahan masalah ke dalam beberapa pilar penyebab utama:</a:t>
            </a:r>
            <a:br/>
            <a:r>
              <a:t>• Sub 1: Alur Pemesanan &amp; Pembayaran   • Sub 2: Manajemen Fasilitas &amp; Menu   • Sub 3: Kebiasaan / Budaya Siswa</a:t>
            </a:r>
          </a:p>
        </p:txBody>
      </p:sp>
      <p:sp>
        <p:nvSpPr>
          <p:cNvPr id="10" name="Rounded Rectangle 9"/>
          <p:cNvSpPr/>
          <p:nvPr/>
        </p:nvSpPr>
        <p:spPr>
          <a:xfrm>
            <a:off x="731520" y="4754880"/>
            <a:ext cx="10698480" cy="146304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92040"/>
            <a:ext cx="10332720" cy="457200"/>
          </a:xfrm>
          <a:prstGeom prst="rect">
            <a:avLst/>
          </a:prstGeom>
          <a:noFill/>
        </p:spPr>
        <p:txBody>
          <a:bodyPr wrap="square">
            <a:spAutoFit/>
          </a:bodyPr>
          <a:lstStyle/>
          <a:p>
            <a:pPr>
              <a:defRPr sz="1400" b="1">
                <a:solidFill>
                  <a:srgbClr val="1E293B"/>
                </a:solidFill>
              </a:defRPr>
            </a:pPr>
            <a:r>
              <a:t>TINGKAT 3: KOMPONEN AKSI TERKECIL (Ranting / Unit Kerja)</a:t>
            </a:r>
          </a:p>
        </p:txBody>
      </p:sp>
      <p:sp>
        <p:nvSpPr>
          <p:cNvPr id="12" name="TextBox 11"/>
          <p:cNvSpPr txBox="1"/>
          <p:nvPr/>
        </p:nvSpPr>
        <p:spPr>
          <a:xfrm>
            <a:off x="914400" y="5303520"/>
            <a:ext cx="10332720" cy="822960"/>
          </a:xfrm>
          <a:prstGeom prst="rect">
            <a:avLst/>
          </a:prstGeom>
          <a:noFill/>
        </p:spPr>
        <p:txBody>
          <a:bodyPr wrap="square">
            <a:spAutoFit/>
          </a:bodyPr>
          <a:lstStyle/>
          <a:p>
            <a:pPr>
              <a:defRPr sz="1200">
                <a:solidFill>
                  <a:srgbClr val="1E293B"/>
                </a:solidFill>
              </a:defRPr>
            </a:pPr>
            <a:r>
              <a:t>Rincian spesifik yang sudah bisa langsung diberi tindakan konkret:</a:t>
            </a:r>
            <a:br/>
            <a:r>
              <a:t>• Pembayaran tunai lama -&gt; Siapkan QRIS / Kupon</a:t>
            </a:r>
            <a:br/>
            <a:r>
              <a:t>• Siswa bingung pilih menu -&gt; Pasang papan daftar menu di luar</a:t>
            </a:r>
            <a:br/>
            <a:r>
              <a:t>• Penumpukan antre -&gt; Buat garis pembatas jalur masuk &amp; keluar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Kolaborasi Berkesadaran: Pembagian 5 Peran Anggota Tim</a:t>
            </a:r>
          </a:p>
        </p:txBody>
      </p:sp>
      <p:sp>
        <p:nvSpPr>
          <p:cNvPr id="4" name="Rounded Rectangle 3"/>
          <p:cNvSpPr/>
          <p:nvPr/>
        </p:nvSpPr>
        <p:spPr>
          <a:xfrm>
            <a:off x="731520" y="146304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57200"/>
          </a:xfrm>
          <a:prstGeom prst="rect">
            <a:avLst/>
          </a:prstGeom>
          <a:noFill/>
        </p:spPr>
        <p:txBody>
          <a:bodyPr wrap="square">
            <a:spAutoFit/>
          </a:bodyPr>
          <a:lstStyle/>
          <a:p>
            <a:pPr>
              <a:defRPr sz="1400" b="1">
                <a:solidFill>
                  <a:srgbClr val="1E293B"/>
                </a:solidFill>
              </a:defRPr>
            </a:pPr>
            <a:r>
              <a:t>1. Ketua Tim (Lead)</a:t>
            </a:r>
          </a:p>
        </p:txBody>
      </p:sp>
      <p:sp>
        <p:nvSpPr>
          <p:cNvPr id="6" name="TextBox 5"/>
          <p:cNvSpPr txBox="1"/>
          <p:nvPr/>
        </p:nvSpPr>
        <p:spPr>
          <a:xfrm>
            <a:off x="914400" y="2103120"/>
            <a:ext cx="3017520" cy="1371600"/>
          </a:xfrm>
          <a:prstGeom prst="rect">
            <a:avLst/>
          </a:prstGeom>
          <a:noFill/>
        </p:spPr>
        <p:txBody>
          <a:bodyPr wrap="square">
            <a:spAutoFit/>
          </a:bodyPr>
          <a:lstStyle/>
          <a:p>
            <a:pPr>
              <a:defRPr sz="1100">
                <a:solidFill>
                  <a:srgbClr val="64748B"/>
                </a:solidFill>
              </a:defRPr>
            </a:pPr>
            <a:r>
              <a:t>Memimpin musyawarah, memastikan pembagian tugas adil, dan mengambil keputusan saat voting mufakat.</a:t>
            </a:r>
          </a:p>
        </p:txBody>
      </p:sp>
      <p:sp>
        <p:nvSpPr>
          <p:cNvPr id="7" name="Rounded Rectangle 6"/>
          <p:cNvSpPr/>
          <p:nvPr/>
        </p:nvSpPr>
        <p:spPr>
          <a:xfrm>
            <a:off x="4389120" y="146304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57200"/>
          </a:xfrm>
          <a:prstGeom prst="rect">
            <a:avLst/>
          </a:prstGeom>
          <a:noFill/>
        </p:spPr>
        <p:txBody>
          <a:bodyPr wrap="square">
            <a:spAutoFit/>
          </a:bodyPr>
          <a:lstStyle/>
          <a:p>
            <a:pPr>
              <a:defRPr sz="1400" b="1">
                <a:solidFill>
                  <a:srgbClr val="1E293B"/>
                </a:solidFill>
              </a:defRPr>
            </a:pPr>
            <a:r>
              <a:t>2. Pencatat (Scribe)</a:t>
            </a:r>
          </a:p>
        </p:txBody>
      </p:sp>
      <p:sp>
        <p:nvSpPr>
          <p:cNvPr id="9" name="TextBox 8"/>
          <p:cNvSpPr txBox="1"/>
          <p:nvPr/>
        </p:nvSpPr>
        <p:spPr>
          <a:xfrm>
            <a:off x="4572000" y="2103120"/>
            <a:ext cx="3017520" cy="1371600"/>
          </a:xfrm>
          <a:prstGeom prst="rect">
            <a:avLst/>
          </a:prstGeom>
          <a:noFill/>
        </p:spPr>
        <p:txBody>
          <a:bodyPr wrap="square">
            <a:spAutoFit/>
          </a:bodyPr>
          <a:lstStyle/>
          <a:p>
            <a:pPr>
              <a:defRPr sz="1100">
                <a:solidFill>
                  <a:srgbClr val="64748B"/>
                </a:solidFill>
              </a:defRPr>
            </a:pPr>
            <a:r>
              <a:t>Mencatat ide hasil curah pendapat (brainstorming) secara rapi pada formulir LKPD 1.</a:t>
            </a:r>
          </a:p>
        </p:txBody>
      </p:sp>
      <p:sp>
        <p:nvSpPr>
          <p:cNvPr id="10" name="Rounded Rectangle 9"/>
          <p:cNvSpPr/>
          <p:nvPr/>
        </p:nvSpPr>
        <p:spPr>
          <a:xfrm>
            <a:off x="8046720" y="146304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57200"/>
          </a:xfrm>
          <a:prstGeom prst="rect">
            <a:avLst/>
          </a:prstGeom>
          <a:noFill/>
        </p:spPr>
        <p:txBody>
          <a:bodyPr wrap="square">
            <a:spAutoFit/>
          </a:bodyPr>
          <a:lstStyle/>
          <a:p>
            <a:pPr>
              <a:defRPr sz="1400" b="1">
                <a:solidFill>
                  <a:srgbClr val="1E293B"/>
                </a:solidFill>
              </a:defRPr>
            </a:pPr>
            <a:r>
              <a:t>3. Juru Rancang (Visual)</a:t>
            </a:r>
          </a:p>
        </p:txBody>
      </p:sp>
      <p:sp>
        <p:nvSpPr>
          <p:cNvPr id="12" name="TextBox 11"/>
          <p:cNvSpPr txBox="1"/>
          <p:nvPr/>
        </p:nvSpPr>
        <p:spPr>
          <a:xfrm>
            <a:off x="8229600" y="2103120"/>
            <a:ext cx="3017520" cy="1371600"/>
          </a:xfrm>
          <a:prstGeom prst="rect">
            <a:avLst/>
          </a:prstGeom>
          <a:noFill/>
        </p:spPr>
        <p:txBody>
          <a:bodyPr wrap="square">
            <a:spAutoFit/>
          </a:bodyPr>
          <a:lstStyle/>
          <a:p>
            <a:pPr>
              <a:defRPr sz="1100">
                <a:solidFill>
                  <a:srgbClr val="64748B"/>
                </a:solidFill>
              </a:defRPr>
            </a:pPr>
            <a:r>
              <a:t>Menggambar struktur Pohon Dekomposisi di kertas plano/Lab Simulasi dengan diagram hierarki yang rapi.</a:t>
            </a:r>
          </a:p>
        </p:txBody>
      </p:sp>
      <p:sp>
        <p:nvSpPr>
          <p:cNvPr id="13" name="Rounded Rectangle 12"/>
          <p:cNvSpPr/>
          <p:nvPr/>
        </p:nvSpPr>
        <p:spPr>
          <a:xfrm>
            <a:off x="2560320" y="393192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4069080"/>
            <a:ext cx="3017520" cy="457200"/>
          </a:xfrm>
          <a:prstGeom prst="rect">
            <a:avLst/>
          </a:prstGeom>
          <a:noFill/>
        </p:spPr>
        <p:txBody>
          <a:bodyPr wrap="square">
            <a:spAutoFit/>
          </a:bodyPr>
          <a:lstStyle/>
          <a:p>
            <a:pPr>
              <a:defRPr sz="1400" b="1">
                <a:solidFill>
                  <a:srgbClr val="1E293B"/>
                </a:solidFill>
              </a:defRPr>
            </a:pPr>
            <a:r>
              <a:t>4. Juru Bicara (Speaker)</a:t>
            </a:r>
          </a:p>
        </p:txBody>
      </p:sp>
      <p:sp>
        <p:nvSpPr>
          <p:cNvPr id="15" name="TextBox 14"/>
          <p:cNvSpPr txBox="1"/>
          <p:nvPr/>
        </p:nvSpPr>
        <p:spPr>
          <a:xfrm>
            <a:off x="2743200" y="4572000"/>
            <a:ext cx="3017520" cy="1371600"/>
          </a:xfrm>
          <a:prstGeom prst="rect">
            <a:avLst/>
          </a:prstGeom>
          <a:noFill/>
        </p:spPr>
        <p:txBody>
          <a:bodyPr wrap="square">
            <a:spAutoFit/>
          </a:bodyPr>
          <a:lstStyle/>
          <a:p>
            <a:pPr>
              <a:defRPr sz="1100">
                <a:solidFill>
                  <a:srgbClr val="64748B"/>
                </a:solidFill>
              </a:defRPr>
            </a:pPr>
            <a:r>
              <a:t>Menyampaikan paparan hasil dekomposisi kelompok kepada kelompok lain saat sesi galeri jalan.</a:t>
            </a:r>
          </a:p>
        </p:txBody>
      </p:sp>
      <p:sp>
        <p:nvSpPr>
          <p:cNvPr id="16" name="Rounded Rectangle 15"/>
          <p:cNvSpPr/>
          <p:nvPr/>
        </p:nvSpPr>
        <p:spPr>
          <a:xfrm>
            <a:off x="6217920" y="3931920"/>
            <a:ext cx="3383280" cy="219456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69080"/>
            <a:ext cx="3017520" cy="457200"/>
          </a:xfrm>
          <a:prstGeom prst="rect">
            <a:avLst/>
          </a:prstGeom>
          <a:noFill/>
        </p:spPr>
        <p:txBody>
          <a:bodyPr wrap="square">
            <a:spAutoFit/>
          </a:bodyPr>
          <a:lstStyle/>
          <a:p>
            <a:pPr>
              <a:defRPr sz="1400" b="1">
                <a:solidFill>
                  <a:srgbClr val="1E293B"/>
                </a:solidFill>
              </a:defRPr>
            </a:pPr>
            <a:r>
              <a:t>5. Pengingat Waktu (Quality)</a:t>
            </a:r>
          </a:p>
        </p:txBody>
      </p:sp>
      <p:sp>
        <p:nvSpPr>
          <p:cNvPr id="18" name="TextBox 17"/>
          <p:cNvSpPr txBox="1"/>
          <p:nvPr/>
        </p:nvSpPr>
        <p:spPr>
          <a:xfrm>
            <a:off x="6400800" y="4572000"/>
            <a:ext cx="3017520" cy="1371600"/>
          </a:xfrm>
          <a:prstGeom prst="rect">
            <a:avLst/>
          </a:prstGeom>
          <a:noFill/>
        </p:spPr>
        <p:txBody>
          <a:bodyPr wrap="square">
            <a:spAutoFit/>
          </a:bodyPr>
          <a:lstStyle/>
          <a:p>
            <a:pPr>
              <a:defRPr sz="1100">
                <a:solidFill>
                  <a:srgbClr val="64748B"/>
                </a:solidFill>
              </a:defRPr>
            </a:pPr>
            <a:r>
              <a:t>Memastikan pengerjaan tepat waktu (time management) dan mengecek kesesuaian checklist rubrik.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Praktik Lab Simulasi: Pohon Dekomposisi Interaktif</a:t>
            </a:r>
          </a:p>
        </p:txBody>
      </p:sp>
      <p:sp>
        <p:nvSpPr>
          <p:cNvPr id="4" name="Rounded Rectangle 3"/>
          <p:cNvSpPr/>
          <p:nvPr/>
        </p:nvSpPr>
        <p:spPr>
          <a:xfrm>
            <a:off x="731520" y="1463040"/>
            <a:ext cx="54864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5120640" cy="457200"/>
          </a:xfrm>
          <a:prstGeom prst="rect">
            <a:avLst/>
          </a:prstGeom>
          <a:noFill/>
        </p:spPr>
        <p:txBody>
          <a:bodyPr wrap="square">
            <a:spAutoFit/>
          </a:bodyPr>
          <a:lstStyle/>
          <a:p>
            <a:pPr>
              <a:defRPr sz="1400" b="1">
                <a:solidFill>
                  <a:srgbClr val="1E293B"/>
                </a:solidFill>
              </a:defRPr>
            </a:pPr>
            <a:r>
              <a:t>Langkah Praktik di Portal KKA:</a:t>
            </a:r>
          </a:p>
        </p:txBody>
      </p:sp>
      <p:sp>
        <p:nvSpPr>
          <p:cNvPr id="6" name="TextBox 5"/>
          <p:cNvSpPr txBox="1"/>
          <p:nvPr/>
        </p:nvSpPr>
        <p:spPr>
          <a:xfrm>
            <a:off x="914400" y="2103120"/>
            <a:ext cx="5120640" cy="3840480"/>
          </a:xfrm>
          <a:prstGeom prst="rect">
            <a:avLst/>
          </a:prstGeom>
          <a:noFill/>
        </p:spPr>
        <p:txBody>
          <a:bodyPr wrap="square">
            <a:spAutoFit/>
          </a:bodyPr>
          <a:lstStyle/>
          <a:p>
            <a:pPr>
              <a:spcAft>
                <a:spcPts val="800"/>
              </a:spcAft>
              <a:defRPr sz="1200">
                <a:solidFill>
                  <a:srgbClr val="1E293B"/>
                </a:solidFill>
              </a:defRPr>
            </a:pPr>
            <a:r>
              <a:t>1. Buka portal resmi sekolah: https://portalkka.my.id</a:t>
            </a:r>
          </a:p>
          <a:p>
            <a:pPr>
              <a:spcAft>
                <a:spcPts val="800"/>
              </a:spcAft>
              <a:defRPr sz="1200">
                <a:solidFill>
                  <a:srgbClr val="1E293B"/>
                </a:solidFill>
              </a:defRPr>
            </a:pPr>
            <a:r>
              <a:t>2. Login menggunakan akun siswa masing-masing.</a:t>
            </a:r>
          </a:p>
          <a:p>
            <a:pPr>
              <a:spcAft>
                <a:spcPts val="800"/>
              </a:spcAft>
              <a:defRPr sz="1200">
                <a:solidFill>
                  <a:srgbClr val="1E293B"/>
                </a:solidFill>
              </a:defRPr>
            </a:pPr>
            <a:r>
              <a:t>3. Buka menu 'Modul Ajar' -&gt; Pilih Pertemuan 1.</a:t>
            </a:r>
          </a:p>
          <a:p>
            <a:pPr>
              <a:spcAft>
                <a:spcPts val="800"/>
              </a:spcAft>
              <a:defRPr sz="1200">
                <a:solidFill>
                  <a:srgbClr val="1E293B"/>
                </a:solidFill>
              </a:defRPr>
            </a:pPr>
            <a:r>
              <a:t>4. Masuk ke tab 'Lab Simulasi: Pohon Dekomposisi'.</a:t>
            </a:r>
          </a:p>
          <a:p>
            <a:pPr>
              <a:spcAft>
                <a:spcPts val="800"/>
              </a:spcAft>
              <a:defRPr sz="1200">
                <a:solidFill>
                  <a:srgbClr val="1E293B"/>
                </a:solidFill>
              </a:defRPr>
            </a:pPr>
            <a:r>
              <a:t>5. Coba fitur drag-and-drop / modal picker untuk menyusun cabang masalah.</a:t>
            </a:r>
          </a:p>
          <a:p>
            <a:pPr>
              <a:spcAft>
                <a:spcPts val="800"/>
              </a:spcAft>
              <a:defRPr sz="1200">
                <a:solidFill>
                  <a:srgbClr val="1E293B"/>
                </a:solidFill>
              </a:defRPr>
            </a:pPr>
            <a:r>
              <a:t>6. Uji validasi hierarki: Apakah cabang sudah logis dan tidak tumpang tindih?</a:t>
            </a:r>
          </a:p>
        </p:txBody>
      </p:sp>
      <p:sp>
        <p:nvSpPr>
          <p:cNvPr id="7" name="Rounded Rectangle 6"/>
          <p:cNvSpPr/>
          <p:nvPr/>
        </p:nvSpPr>
        <p:spPr>
          <a:xfrm>
            <a:off x="6583680" y="1463040"/>
            <a:ext cx="4846320" cy="4754880"/>
          </a:xfrm>
          <a:prstGeom prst="roundRect">
            <a:avLst/>
          </a:prstGeom>
          <a:solidFill>
            <a:srgbClr val="FFF7ED"/>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600200"/>
            <a:ext cx="4480560" cy="457200"/>
          </a:xfrm>
          <a:prstGeom prst="rect">
            <a:avLst/>
          </a:prstGeom>
          <a:noFill/>
        </p:spPr>
        <p:txBody>
          <a:bodyPr wrap="square">
            <a:spAutoFit/>
          </a:bodyPr>
          <a:lstStyle/>
          <a:p>
            <a:pPr>
              <a:defRPr sz="1400" b="1">
                <a:solidFill>
                  <a:srgbClr val="1E293B"/>
                </a:solidFill>
              </a:defRPr>
            </a:pPr>
            <a:r>
              <a:t>Tersedia Fallback Unplugged!</a:t>
            </a:r>
          </a:p>
        </p:txBody>
      </p:sp>
      <p:sp>
        <p:nvSpPr>
          <p:cNvPr id="9" name="TextBox 8"/>
          <p:cNvSpPr txBox="1"/>
          <p:nvPr/>
        </p:nvSpPr>
        <p:spPr>
          <a:xfrm>
            <a:off x="6766560" y="2103120"/>
            <a:ext cx="4480560" cy="3840480"/>
          </a:xfrm>
          <a:prstGeom prst="rect">
            <a:avLst/>
          </a:prstGeom>
          <a:noFill/>
        </p:spPr>
        <p:txBody>
          <a:bodyPr wrap="square">
            <a:spAutoFit/>
          </a:bodyPr>
          <a:lstStyle/>
          <a:p>
            <a:pPr>
              <a:spcAft>
                <a:spcPts val="1000"/>
              </a:spcAft>
              <a:defRPr b="1" sz="1300">
                <a:solidFill>
                  <a:srgbClr val="D97706"/>
                </a:solidFill>
              </a:defRPr>
            </a:pPr>
            <a:r>
              <a:t>Jika Terkendala Gawai/Jaringan:</a:t>
            </a:r>
          </a:p>
          <a:p>
            <a:pPr>
              <a:spcAft>
                <a:spcPts val="800"/>
              </a:spcAft>
              <a:defRPr sz="1100">
                <a:solidFill>
                  <a:srgbClr val="64748B"/>
                </a:solidFill>
              </a:defRPr>
            </a:pPr>
            <a:r>
              <a:t>• Gunakan Kertas Plano / Karton Manila dan sticky notes warna-warni.</a:t>
            </a:r>
          </a:p>
          <a:p>
            <a:pPr>
              <a:spcAft>
                <a:spcPts val="800"/>
              </a:spcAft>
              <a:defRPr sz="1100">
                <a:solidFill>
                  <a:srgbClr val="64748B"/>
                </a:solidFill>
              </a:defRPr>
            </a:pPr>
            <a:r>
              <a:t>• Warna Kuning: Masalah Utama (Tingkat 1).</a:t>
            </a:r>
          </a:p>
          <a:p>
            <a:pPr>
              <a:spcAft>
                <a:spcPts val="800"/>
              </a:spcAft>
              <a:defRPr sz="1100">
                <a:solidFill>
                  <a:srgbClr val="64748B"/>
                </a:solidFill>
              </a:defRPr>
            </a:pPr>
            <a:r>
              <a:t>• Warna Biru: Sub-Masalah Kategori (Tingkat 2).</a:t>
            </a:r>
          </a:p>
          <a:p>
            <a:pPr>
              <a:spcAft>
                <a:spcPts val="800"/>
              </a:spcAft>
              <a:defRPr sz="1100">
                <a:solidFill>
                  <a:srgbClr val="64748B"/>
                </a:solidFill>
              </a:defRPr>
            </a:pPr>
            <a:r>
              <a:t>• Warna Hijau: Aksi Terkecil (Tingkat 3).</a:t>
            </a:r>
          </a:p>
          <a:p>
            <a:pPr>
              <a:spcAft>
                <a:spcPts val="800"/>
              </a:spcAft>
              <a:defRPr sz="1100">
                <a:solidFill>
                  <a:srgbClr val="64748B"/>
                </a:solidFill>
              </a:defRPr>
            </a:pPr>
            <a:r>
              <a:t>• Kompetensi Berpikir Komputasional tidak bergantung pada alat digital, melainkan pada ketajaman struktur logika bernalar kalian!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Waspada: 3 Miskonsepsi Umum Saat Dekomposisi</a:t>
            </a:r>
          </a:p>
        </p:txBody>
      </p:sp>
      <p:sp>
        <p:nvSpPr>
          <p:cNvPr id="4" name="Rounded Rectangle 3"/>
          <p:cNvSpPr/>
          <p:nvPr/>
        </p:nvSpPr>
        <p:spPr>
          <a:xfrm>
            <a:off x="731520" y="1463040"/>
            <a:ext cx="3383280" cy="4754880"/>
          </a:xfrm>
          <a:prstGeom prst="roundRect">
            <a:avLst/>
          </a:prstGeom>
          <a:solidFill>
            <a:srgbClr val="FFFFFF"/>
          </a:solidFill>
          <a:ln w="1905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57200"/>
          </a:xfrm>
          <a:prstGeom prst="rect">
            <a:avLst/>
          </a:prstGeom>
          <a:noFill/>
        </p:spPr>
        <p:txBody>
          <a:bodyPr wrap="square">
            <a:spAutoFit/>
          </a:bodyPr>
          <a:lstStyle/>
          <a:p>
            <a:pPr>
              <a:defRPr sz="1400" b="1">
                <a:solidFill>
                  <a:srgbClr val="1E293B"/>
                </a:solidFill>
              </a:defRPr>
            </a:pPr>
            <a:r>
              <a:t>❌ Miskonsepsi 1: Terburu-buru Memberi Solusi</a:t>
            </a:r>
          </a:p>
        </p:txBody>
      </p:sp>
      <p:sp>
        <p:nvSpPr>
          <p:cNvPr id="6" name="TextBox 5"/>
          <p:cNvSpPr txBox="1"/>
          <p:nvPr/>
        </p:nvSpPr>
        <p:spPr>
          <a:xfrm>
            <a:off x="914400" y="2468880"/>
            <a:ext cx="3017520" cy="3474720"/>
          </a:xfrm>
          <a:prstGeom prst="rect">
            <a:avLst/>
          </a:prstGeom>
          <a:noFill/>
        </p:spPr>
        <p:txBody>
          <a:bodyPr wrap="square">
            <a:spAutoFit/>
          </a:bodyPr>
          <a:lstStyle/>
          <a:p>
            <a:pPr>
              <a:defRPr sz="1100">
                <a:solidFill>
                  <a:srgbClr val="0F172A"/>
                </a:solidFill>
              </a:defRPr>
            </a:pPr>
            <a:r>
              <a:t>SALAH: Langsung menulis 'Beli mesin kasir baru!' di pohon masalah.</a:t>
            </a:r>
            <a:br/>
            <a:br/>
            <a:r>
              <a:t>BENAR: Dekomposisi adalah membedah 'ANATOMI MASALAH', bukan langsung menembak solusi. Pahami dulu mengapa pembayaran lama (apakah uang kembalian tidak ada, atau kasir salah hitung).</a:t>
            </a:r>
          </a:p>
        </p:txBody>
      </p:sp>
      <p:sp>
        <p:nvSpPr>
          <p:cNvPr id="7" name="Rounded Rectangle 6"/>
          <p:cNvSpPr/>
          <p:nvPr/>
        </p:nvSpPr>
        <p:spPr>
          <a:xfrm>
            <a:off x="4389120" y="1463040"/>
            <a:ext cx="3383280" cy="4754880"/>
          </a:xfrm>
          <a:prstGeom prst="roundRect">
            <a:avLst/>
          </a:prstGeom>
          <a:solidFill>
            <a:srgbClr val="FFFFFF"/>
          </a:solidFill>
          <a:ln w="1905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57200"/>
          </a:xfrm>
          <a:prstGeom prst="rect">
            <a:avLst/>
          </a:prstGeom>
          <a:noFill/>
        </p:spPr>
        <p:txBody>
          <a:bodyPr wrap="square">
            <a:spAutoFit/>
          </a:bodyPr>
          <a:lstStyle/>
          <a:p>
            <a:pPr>
              <a:defRPr sz="1400" b="1">
                <a:solidFill>
                  <a:srgbClr val="1E293B"/>
                </a:solidFill>
              </a:defRPr>
            </a:pPr>
            <a:r>
              <a:t>❌ Miskonsepsi 2: Cabang Tumpang Tindih (Overlapping)</a:t>
            </a:r>
          </a:p>
        </p:txBody>
      </p:sp>
      <p:sp>
        <p:nvSpPr>
          <p:cNvPr id="9" name="TextBox 8"/>
          <p:cNvSpPr txBox="1"/>
          <p:nvPr/>
        </p:nvSpPr>
        <p:spPr>
          <a:xfrm>
            <a:off x="4572000" y="2468880"/>
            <a:ext cx="3017520" cy="3474720"/>
          </a:xfrm>
          <a:prstGeom prst="rect">
            <a:avLst/>
          </a:prstGeom>
          <a:noFill/>
        </p:spPr>
        <p:txBody>
          <a:bodyPr wrap="square">
            <a:spAutoFit/>
          </a:bodyPr>
          <a:lstStyle/>
          <a:p>
            <a:pPr>
              <a:defRPr sz="1100">
                <a:solidFill>
                  <a:srgbClr val="0F172A"/>
                </a:solidFill>
              </a:defRPr>
            </a:pPr>
            <a:r>
              <a:t>SALAH: Membuat sub-masalah yang sebenarnya sama hanya beda kata.</a:t>
            </a:r>
            <a:br/>
            <a:br/>
            <a:r>
              <a:t>BENAR: Terapkan prinsip MECE (Mutually Exclusive, Collectively Exhaustive). Tiap cabang harus berdiri sendiri dan tidak saling tumpang tindih.</a:t>
            </a:r>
          </a:p>
        </p:txBody>
      </p:sp>
      <p:sp>
        <p:nvSpPr>
          <p:cNvPr id="10" name="Rounded Rectangle 9"/>
          <p:cNvSpPr/>
          <p:nvPr/>
        </p:nvSpPr>
        <p:spPr>
          <a:xfrm>
            <a:off x="8046720" y="1463040"/>
            <a:ext cx="3383280" cy="4754880"/>
          </a:xfrm>
          <a:prstGeom prst="roundRect">
            <a:avLst/>
          </a:prstGeom>
          <a:solidFill>
            <a:srgbClr val="FFFFFF"/>
          </a:solidFill>
          <a:ln w="1905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57200"/>
          </a:xfrm>
          <a:prstGeom prst="rect">
            <a:avLst/>
          </a:prstGeom>
          <a:noFill/>
        </p:spPr>
        <p:txBody>
          <a:bodyPr wrap="square">
            <a:spAutoFit/>
          </a:bodyPr>
          <a:lstStyle/>
          <a:p>
            <a:pPr>
              <a:defRPr sz="1400" b="1">
                <a:solidFill>
                  <a:srgbClr val="1E293B"/>
                </a:solidFill>
              </a:defRPr>
            </a:pPr>
            <a:r>
              <a:t>❌ Miskonsepsi 3: Masalah Terlalu Dangkal / Terlalu Rumit</a:t>
            </a:r>
          </a:p>
        </p:txBody>
      </p:sp>
      <p:sp>
        <p:nvSpPr>
          <p:cNvPr id="12" name="TextBox 11"/>
          <p:cNvSpPr txBox="1"/>
          <p:nvPr/>
        </p:nvSpPr>
        <p:spPr>
          <a:xfrm>
            <a:off x="8229600" y="2468880"/>
            <a:ext cx="3017520" cy="3474720"/>
          </a:xfrm>
          <a:prstGeom prst="rect">
            <a:avLst/>
          </a:prstGeom>
          <a:noFill/>
        </p:spPr>
        <p:txBody>
          <a:bodyPr wrap="square">
            <a:spAutoFit/>
          </a:bodyPr>
          <a:lstStyle/>
          <a:p>
            <a:pPr>
              <a:defRPr sz="1100">
                <a:solidFill>
                  <a:srgbClr val="0F172A"/>
                </a:solidFill>
              </a:defRPr>
            </a:pPr>
            <a:r>
              <a:t>SALAH: Memecah hingga 10 tingkat sampai hal-hal sepele yang tidak relevan.</a:t>
            </a:r>
            <a:br/>
            <a:br/>
            <a:r>
              <a:t>BENAR: Cukup 3 sampai 4 tingkat hierarki yang paling berdampak langsung terhadap pemecahan masalah.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Umpan Balik Sebaya: Metode '2 Bintang 1 Harapan'</a:t>
            </a:r>
          </a:p>
        </p:txBody>
      </p:sp>
      <p:sp>
        <p:nvSpPr>
          <p:cNvPr id="4" name="Rounded Rectangle 3"/>
          <p:cNvSpPr/>
          <p:nvPr/>
        </p:nvSpPr>
        <p:spPr>
          <a:xfrm>
            <a:off x="731520" y="1463040"/>
            <a:ext cx="10698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457200"/>
          </a:xfrm>
          <a:prstGeom prst="rect">
            <a:avLst/>
          </a:prstGeom>
          <a:noFill/>
        </p:spPr>
        <p:txBody>
          <a:bodyPr wrap="square">
            <a:spAutoFit/>
          </a:bodyPr>
          <a:lstStyle/>
          <a:p>
            <a:pPr>
              <a:defRPr sz="1400" b="1">
                <a:solidFill>
                  <a:srgbClr val="1E293B"/>
                </a:solidFill>
              </a:defRPr>
            </a:pPr>
            <a:r>
              <a:t>Budaya Berbagi &amp; Apresiasi Konstruktif</a:t>
            </a:r>
          </a:p>
        </p:txBody>
      </p:sp>
      <p:sp>
        <p:nvSpPr>
          <p:cNvPr id="6" name="TextBox 5"/>
          <p:cNvSpPr txBox="1"/>
          <p:nvPr/>
        </p:nvSpPr>
        <p:spPr>
          <a:xfrm>
            <a:off x="1005840" y="2103120"/>
            <a:ext cx="10149840" cy="3931920"/>
          </a:xfrm>
          <a:prstGeom prst="rect">
            <a:avLst/>
          </a:prstGeom>
          <a:noFill/>
        </p:spPr>
        <p:txBody>
          <a:bodyPr wrap="square">
            <a:spAutoFit/>
          </a:bodyPr>
          <a:lstStyle/>
          <a:p>
            <a:pPr>
              <a:spcAft>
                <a:spcPts val="1400"/>
              </a:spcAft>
              <a:defRPr sz="1300" b="1">
                <a:solidFill>
                  <a:srgbClr val="1E293B"/>
                </a:solidFill>
              </a:defRPr>
            </a:pPr>
            <a:r>
              <a:t>Saat sesi Galeri Jalan (Gallery Walk), setiap kelompok saling berkunjung dan memberikan catatan apresiasi:</a:t>
            </a:r>
          </a:p>
          <a:p>
            <a:pPr>
              <a:defRPr b="1" sz="1300">
                <a:solidFill>
                  <a:srgbClr val="4F46E5"/>
                </a:solidFill>
              </a:defRPr>
            </a:pPr>
            <a:r>
              <a:t>⭐ Bintang Pertama (Apresiasi Logika):</a:t>
            </a:r>
          </a:p>
          <a:p>
            <a:pPr>
              <a:spcAft>
                <a:spcPts val="1200"/>
              </a:spcAft>
              <a:defRPr sz="1200">
                <a:solidFill>
                  <a:srgbClr val="64748B"/>
                </a:solidFill>
              </a:defRPr>
            </a:pPr>
            <a:r>
              <a:t>Sebutkan satu pembagian cabang sub-masalah dari kelompok teman yang menurut kalian paling cerdas, tajam, dan tidak terpikirkan oleh kelompok kalian.</a:t>
            </a:r>
          </a:p>
          <a:p>
            <a:pPr>
              <a:defRPr b="1" sz="1300">
                <a:solidFill>
                  <a:srgbClr val="4F46E5"/>
                </a:solidFill>
              </a:defRPr>
            </a:pPr>
            <a:r>
              <a:t>⭐ Bintang Kedua (Apresiasi Visual):</a:t>
            </a:r>
          </a:p>
          <a:p>
            <a:pPr>
              <a:spcAft>
                <a:spcPts val="1200"/>
              </a:spcAft>
              <a:defRPr sz="1200">
                <a:solidFill>
                  <a:srgbClr val="64748B"/>
                </a:solidFill>
              </a:defRPr>
            </a:pPr>
            <a:r>
              <a:t>Apresiasi kerapian bagan pohon dekomposisi atau kejelasan penyampaian oleh Juru Bicara kelompok.</a:t>
            </a:r>
          </a:p>
          <a:p>
            <a:pPr>
              <a:defRPr b="1" sz="1300">
                <a:solidFill>
                  <a:srgbClr val="4F46E5"/>
                </a:solidFill>
              </a:defRPr>
            </a:pPr>
            <a:r>
              <a:t>🎯 Satu Harapan (Saran Konstruktif):</a:t>
            </a:r>
          </a:p>
          <a:p>
            <a:pPr>
              <a:spcAft>
                <a:spcPts val="1200"/>
              </a:spcAft>
              <a:defRPr sz="1200">
                <a:solidFill>
                  <a:srgbClr val="64748B"/>
                </a:solidFill>
              </a:defRPr>
            </a:pPr>
            <a:r>
              <a:t>Berikan satu pertanyaan kritis atau saran: 'Kami berharap di cabang X dapat diperjelas rinciannya agar solusi nantinya lebih mudah dibuat.'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KODING &amp; KECERDASAN ARTIFISIAL • FASE E (KELAS X)</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 Refleksi Metakognisi &amp; Tiket Keluar (Exit Ticket)</a:t>
            </a:r>
          </a:p>
        </p:txBody>
      </p:sp>
      <p:sp>
        <p:nvSpPr>
          <p:cNvPr id="4" name="Rounded Rectangle 3"/>
          <p:cNvSpPr/>
          <p:nvPr/>
        </p:nvSpPr>
        <p:spPr>
          <a:xfrm>
            <a:off x="731520" y="1463040"/>
            <a:ext cx="64008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6035040" cy="457200"/>
          </a:xfrm>
          <a:prstGeom prst="rect">
            <a:avLst/>
          </a:prstGeom>
          <a:noFill/>
        </p:spPr>
        <p:txBody>
          <a:bodyPr wrap="square">
            <a:spAutoFit/>
          </a:bodyPr>
          <a:lstStyle/>
          <a:p>
            <a:pPr>
              <a:defRPr sz="1400" b="1">
                <a:solidFill>
                  <a:srgbClr val="1E293B"/>
                </a:solidFill>
              </a:defRPr>
            </a:pPr>
            <a:r>
              <a:t>3 Pertanyaan Refleksi Individu:</a:t>
            </a:r>
          </a:p>
        </p:txBody>
      </p:sp>
      <p:sp>
        <p:nvSpPr>
          <p:cNvPr id="6" name="TextBox 5"/>
          <p:cNvSpPr txBox="1"/>
          <p:nvPr/>
        </p:nvSpPr>
        <p:spPr>
          <a:xfrm>
            <a:off x="1005840" y="2103120"/>
            <a:ext cx="5852160" cy="3840480"/>
          </a:xfrm>
          <a:prstGeom prst="rect">
            <a:avLst/>
          </a:prstGeom>
          <a:noFill/>
        </p:spPr>
        <p:txBody>
          <a:bodyPr wrap="square">
            <a:spAutoFit/>
          </a:bodyPr>
          <a:lstStyle/>
          <a:p>
            <a:pPr>
              <a:defRPr b="1" sz="1300">
                <a:solidFill>
                  <a:srgbClr val="0D9488"/>
                </a:solidFill>
              </a:defRPr>
            </a:pPr>
            <a:r>
              <a:t>1. Kesadaran Diri (Mindful)</a:t>
            </a:r>
          </a:p>
          <a:p>
            <a:pPr>
              <a:spcAft>
                <a:spcPts val="1000"/>
              </a:spcAft>
              <a:defRPr sz="1100">
                <a:solidFill>
                  <a:srgbClr val="64748B"/>
                </a:solidFill>
              </a:defRPr>
            </a:pPr>
            <a:r>
              <a:t>Apa momen 'Aha!' (hal paling mencerahkan) yang kamu temukan hari ini ketika membedah masalah kompleks?</a:t>
            </a:r>
          </a:p>
          <a:p>
            <a:pPr>
              <a:defRPr b="1" sz="1300">
                <a:solidFill>
                  <a:srgbClr val="0D9488"/>
                </a:solidFill>
              </a:defRPr>
            </a:pPr>
            <a:r>
              <a:t>2. Manajemen Kendala</a:t>
            </a:r>
          </a:p>
          <a:p>
            <a:pPr>
              <a:spcAft>
                <a:spcPts val="1000"/>
              </a:spcAft>
              <a:defRPr sz="1100">
                <a:solidFill>
                  <a:srgbClr val="64748B"/>
                </a:solidFill>
              </a:defRPr>
            </a:pPr>
            <a:r>
              <a:t>Di bagian mana kelompokmu sempat buntu atau berbeda pendapat? Bagaimana cara kalian menyelesaikannya secara sehat?</a:t>
            </a:r>
          </a:p>
          <a:p>
            <a:pPr>
              <a:defRPr b="1" sz="1300">
                <a:solidFill>
                  <a:srgbClr val="0D9488"/>
                </a:solidFill>
              </a:defRPr>
            </a:pPr>
            <a:r>
              <a:t>3. Penerapan Masa Depan</a:t>
            </a:r>
          </a:p>
          <a:p>
            <a:pPr>
              <a:spcAft>
                <a:spcPts val="1000"/>
              </a:spcAft>
              <a:defRPr sz="1100">
                <a:solidFill>
                  <a:srgbClr val="64748B"/>
                </a:solidFill>
              </a:defRPr>
            </a:pPr>
            <a:r>
              <a:t>Sebutkan 1 masalah pribadi atau tugas sekolah lain yang mulai hari ini akan kamu selesaikan menggunakan teknik dekomposisi!</a:t>
            </a:r>
          </a:p>
        </p:txBody>
      </p:sp>
      <p:sp>
        <p:nvSpPr>
          <p:cNvPr id="7" name="Rounded Rectangle 6"/>
          <p:cNvSpPr/>
          <p:nvPr/>
        </p:nvSpPr>
        <p:spPr>
          <a:xfrm>
            <a:off x="7498079" y="1463040"/>
            <a:ext cx="3931920" cy="475488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59" y="1600200"/>
            <a:ext cx="3566160" cy="457200"/>
          </a:xfrm>
          <a:prstGeom prst="rect">
            <a:avLst/>
          </a:prstGeom>
          <a:noFill/>
        </p:spPr>
        <p:txBody>
          <a:bodyPr wrap="square">
            <a:spAutoFit/>
          </a:bodyPr>
          <a:lstStyle/>
          <a:p>
            <a:pPr>
              <a:defRPr sz="1400" b="1">
                <a:solidFill>
                  <a:srgbClr val="1E293B"/>
                </a:solidFill>
              </a:defRPr>
            </a:pPr>
            <a:r>
              <a:t>Sampai Jumpa di Pertemuan 2!</a:t>
            </a:r>
          </a:p>
        </p:txBody>
      </p:sp>
      <p:sp>
        <p:nvSpPr>
          <p:cNvPr id="9" name="TextBox 8"/>
          <p:cNvSpPr txBox="1"/>
          <p:nvPr/>
        </p:nvSpPr>
        <p:spPr>
          <a:xfrm>
            <a:off x="7680960" y="2103120"/>
            <a:ext cx="3566160" cy="3840480"/>
          </a:xfrm>
          <a:prstGeom prst="rect">
            <a:avLst/>
          </a:prstGeom>
          <a:noFill/>
        </p:spPr>
        <p:txBody>
          <a:bodyPr wrap="square">
            <a:spAutoFit/>
          </a:bodyPr>
          <a:lstStyle/>
          <a:p>
            <a:pPr>
              <a:spcAft>
                <a:spcPts val="600"/>
              </a:spcAft>
              <a:defRPr b="1" sz="1200">
                <a:solidFill>
                  <a:srgbClr val="4F46E5"/>
                </a:solidFill>
              </a:defRPr>
            </a:pPr>
            <a:r>
              <a:t>Topik Selanjutnya:</a:t>
            </a:r>
          </a:p>
          <a:p>
            <a:pPr>
              <a:spcAft>
                <a:spcPts val="1400"/>
              </a:spcAft>
              <a:defRPr b="1" sz="1300">
                <a:solidFill>
                  <a:srgbClr val="1E293B"/>
                </a:solidFill>
              </a:defRPr>
            </a:pPr>
            <a:r>
              <a:t>"Pengenalan Pola &amp; Abstraksi: Memilah Informasi Penting &amp; Mengabaikan Detail yang Tidak Relevan"</a:t>
            </a:r>
          </a:p>
          <a:p>
            <a:pPr>
              <a:defRPr sz="1100">
                <a:solidFill>
                  <a:srgbClr val="64748B"/>
                </a:solidFill>
              </a:defRPr>
            </a:pPr>
            <a:r>
              <a:t>Isi tiket keluar dan jurnal refleksi sebelum meninggalkan kelas melalui portal:</a:t>
            </a:r>
            <a:br/>
            <a:r>
              <a:t>👉 https://portalkka.my.id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